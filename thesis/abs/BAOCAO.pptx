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01" r:id="rId3"/>
    <p:sldId id="259" r:id="rId4"/>
    <p:sldId id="327" r:id="rId5"/>
    <p:sldId id="271" r:id="rId6"/>
    <p:sldId id="343" r:id="rId7"/>
    <p:sldId id="329" r:id="rId8"/>
    <p:sldId id="272" r:id="rId9"/>
    <p:sldId id="344" r:id="rId10"/>
    <p:sldId id="331" r:id="rId11"/>
    <p:sldId id="306" r:id="rId12"/>
    <p:sldId id="333" r:id="rId13"/>
    <p:sldId id="334" r:id="rId14"/>
    <p:sldId id="345" r:id="rId15"/>
    <p:sldId id="346" r:id="rId16"/>
    <p:sldId id="347" r:id="rId17"/>
    <p:sldId id="348" r:id="rId18"/>
    <p:sldId id="349" r:id="rId19"/>
    <p:sldId id="335" r:id="rId20"/>
    <p:sldId id="275" r:id="rId21"/>
    <p:sldId id="350" r:id="rId22"/>
    <p:sldId id="341" r:id="rId23"/>
    <p:sldId id="342" r:id="rId24"/>
    <p:sldId id="325"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0"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94" autoAdjust="0"/>
    <p:restoredTop sz="94660"/>
  </p:normalViewPr>
  <p:slideViewPr>
    <p:cSldViewPr snapToGrid="0">
      <p:cViewPr varScale="1">
        <p:scale>
          <a:sx n="63" d="100"/>
          <a:sy n="63" d="100"/>
        </p:scale>
        <p:origin x="54" y="16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316DA8-612F-CC4C-A6BA-00E36C6A14C7}" type="datetimeFigureOut">
              <a:t>1/15/2026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A1C381-B670-2C4A-B7AB-B3DD2818A2C1}" type="slidenum">
              <a:t>‹#›</a:t>
            </a:fld>
            <a:endParaRPr kumimoji="1" lang="zh-CN" altLang="en-US"/>
          </a:p>
        </p:txBody>
      </p:sp>
    </p:spTree>
    <p:extLst>
      <p:ext uri="{BB962C8B-B14F-4D97-AF65-F5344CB8AC3E}">
        <p14:creationId xmlns:p14="http://schemas.microsoft.com/office/powerpoint/2010/main" val="2954590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46303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97496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62893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9BDFEF2-C835-EF4C-B68E-C44DDF7D262A}"/>
              </a:ext>
            </a:extLst>
          </p:cNvPr>
          <p:cNvSpPr/>
          <p:nvPr userDrawn="1"/>
        </p:nvSpPr>
        <p:spPr>
          <a:xfrm>
            <a:off x="0" y="1"/>
            <a:ext cx="12192000" cy="742950"/>
          </a:xfrm>
          <a:prstGeom prst="rect">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线连接符 7">
            <a:extLst>
              <a:ext uri="{FF2B5EF4-FFF2-40B4-BE49-F238E27FC236}">
                <a16:creationId xmlns:a16="http://schemas.microsoft.com/office/drawing/2014/main" id="{97C00D26-AF6C-9C47-9C8C-02C52513607B}"/>
              </a:ext>
            </a:extLst>
          </p:cNvPr>
          <p:cNvCxnSpPr/>
          <p:nvPr userDrawn="1"/>
        </p:nvCxnSpPr>
        <p:spPr>
          <a:xfrm>
            <a:off x="1214438" y="847725"/>
            <a:ext cx="10858500" cy="0"/>
          </a:xfrm>
          <a:prstGeom prst="line">
            <a:avLst/>
          </a:prstGeom>
          <a:ln w="12700">
            <a:solidFill>
              <a:srgbClr val="4F292F">
                <a:alpha val="99000"/>
              </a:srgbClr>
            </a:solidFill>
          </a:ln>
        </p:spPr>
        <p:style>
          <a:lnRef idx="1">
            <a:schemeClr val="accent1"/>
          </a:lnRef>
          <a:fillRef idx="0">
            <a:schemeClr val="accent1"/>
          </a:fillRef>
          <a:effectRef idx="0">
            <a:schemeClr val="accent1"/>
          </a:effectRef>
          <a:fontRef idx="minor">
            <a:schemeClr val="tx1"/>
          </a:fontRef>
        </p:style>
      </p:cxnSp>
      <p:pic>
        <p:nvPicPr>
          <p:cNvPr id="2" name="Picture 1" descr="Thông báo - tvu.edu.vn">
            <a:extLst>
              <a:ext uri="{FF2B5EF4-FFF2-40B4-BE49-F238E27FC236}">
                <a16:creationId xmlns:a16="http://schemas.microsoft.com/office/drawing/2014/main" id="{5F5AE878-576F-C2E3-47D1-24E99AF46DA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46874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86807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499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Lst>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tif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E03ACF8-EABC-1D4F-87BF-8E50DBEA5456}"/>
              </a:ext>
            </a:extLst>
          </p:cNvPr>
          <p:cNvSpPr txBox="1"/>
          <p:nvPr/>
        </p:nvSpPr>
        <p:spPr>
          <a:xfrm>
            <a:off x="2954244" y="2609822"/>
            <a:ext cx="6283512" cy="1188720"/>
          </a:xfrm>
          <a:prstGeom prst="rect">
            <a:avLst/>
          </a:prstGeom>
          <a:noFill/>
        </p:spPr>
        <p:txBody>
          <a:bodyPr wrap="square" rtlCol="0">
            <a:noAutofit/>
          </a:bodyPr>
          <a:lstStyle/>
          <a:p>
            <a:pPr algn="ctr"/>
            <a:r>
              <a:rPr lang="vi-VN" sz="3200" dirty="0">
                <a:latin typeface="Noto Sans" panose="020B0502040504020204" pitchFamily="34" charset="0"/>
                <a:ea typeface="Noto Sans" panose="020B0502040504020204" pitchFamily="34" charset="0"/>
                <a:cs typeface="Noto Sans" panose="020B0502040504020204" pitchFamily="34" charset="0"/>
              </a:rPr>
              <a:t>Viết chương trình mô phỏng giải thuật tô màu đồ thị.</a:t>
            </a:r>
          </a:p>
        </p:txBody>
      </p:sp>
      <p:sp>
        <p:nvSpPr>
          <p:cNvPr id="4" name="直角三角形 3">
            <a:extLst>
              <a:ext uri="{FF2B5EF4-FFF2-40B4-BE49-F238E27FC236}">
                <a16:creationId xmlns:a16="http://schemas.microsoft.com/office/drawing/2014/main" id="{E8830590-575E-754B-BBD1-CF430B4CE861}"/>
              </a:ext>
            </a:extLst>
          </p:cNvPr>
          <p:cNvSpPr/>
          <p:nvPr/>
        </p:nvSpPr>
        <p:spPr>
          <a:xfrm rot="5400000">
            <a:off x="-1" y="9939"/>
            <a:ext cx="3892064" cy="389206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直角三角形 14">
            <a:extLst>
              <a:ext uri="{FF2B5EF4-FFF2-40B4-BE49-F238E27FC236}">
                <a16:creationId xmlns:a16="http://schemas.microsoft.com/office/drawing/2014/main" id="{C5D500DF-C263-EE41-83EB-0A173207DC00}"/>
              </a:ext>
            </a:extLst>
          </p:cNvPr>
          <p:cNvSpPr/>
          <p:nvPr/>
        </p:nvSpPr>
        <p:spPr>
          <a:xfrm rot="16200000">
            <a:off x="7878416" y="2544416"/>
            <a:ext cx="4313583" cy="4313583"/>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 name="直线连接符 5">
            <a:extLst>
              <a:ext uri="{FF2B5EF4-FFF2-40B4-BE49-F238E27FC236}">
                <a16:creationId xmlns:a16="http://schemas.microsoft.com/office/drawing/2014/main" id="{5833D964-DFE2-EA42-A16F-D71FA404BCAF}"/>
              </a:ext>
            </a:extLst>
          </p:cNvPr>
          <p:cNvCxnSpPr/>
          <p:nvPr/>
        </p:nvCxnSpPr>
        <p:spPr>
          <a:xfrm flipH="1">
            <a:off x="0" y="822760"/>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BB5050BC-6ED4-E44B-B4A4-0095BD2CF516}"/>
              </a:ext>
            </a:extLst>
          </p:cNvPr>
          <p:cNvCxnSpPr/>
          <p:nvPr/>
        </p:nvCxnSpPr>
        <p:spPr>
          <a:xfrm flipH="1">
            <a:off x="7484926" y="3370197"/>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9" name="圆角矩形 18">
            <a:extLst>
              <a:ext uri="{FF2B5EF4-FFF2-40B4-BE49-F238E27FC236}">
                <a16:creationId xmlns:a16="http://schemas.microsoft.com/office/drawing/2014/main" id="{241761F3-AF46-B743-A19B-C74E9D95957D}"/>
              </a:ext>
            </a:extLst>
          </p:cNvPr>
          <p:cNvSpPr/>
          <p:nvPr/>
        </p:nvSpPr>
        <p:spPr>
          <a:xfrm>
            <a:off x="3909388" y="225095"/>
            <a:ext cx="4585254" cy="572595"/>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EECA7071-4ABB-C345-ADBD-35F30AF76DE0}"/>
              </a:ext>
            </a:extLst>
          </p:cNvPr>
          <p:cNvSpPr txBox="1"/>
          <p:nvPr/>
        </p:nvSpPr>
        <p:spPr>
          <a:xfrm>
            <a:off x="109297" y="4643206"/>
            <a:ext cx="5389079" cy="1473840"/>
          </a:xfrm>
          <a:prstGeom prst="rect">
            <a:avLst/>
          </a:prstGeom>
          <a:noFill/>
        </p:spPr>
        <p:txBody>
          <a:bodyPr wrap="none" rtlCol="0">
            <a:noAutofit/>
          </a:bodyPr>
          <a:lstStyle/>
          <a:p>
            <a:pPr>
              <a:lnSpc>
                <a:spcPct val="150000"/>
              </a:lnSpc>
            </a:pPr>
            <a:r>
              <a:rPr kumimoji="1" lang="en-US" altLang="vi-VN" sz="2000" dirty="0" err="1">
                <a:solidFill>
                  <a:schemeClr val="tx1">
                    <a:lumMod val="75000"/>
                    <a:lumOff val="25000"/>
                  </a:schemeClr>
                </a:solidFill>
                <a:latin typeface="Noto Sans"/>
                <a:ea typeface="Noto Sans"/>
              </a:rPr>
              <a:t>Giảng</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viên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hướng</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dẫn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Trầm</a:t>
            </a:r>
            <a:r>
              <a:rPr kumimoji="1" lang="en-US" altLang="vi-VN" sz="2000">
                <a:solidFill>
                  <a:schemeClr val="tx1">
                    <a:lumMod val="75000"/>
                    <a:lumOff val="25000"/>
                  </a:schemeClr>
                </a:solidFill>
                <a:latin typeface="Noto Sans"/>
                <a:ea typeface="Noto Sans"/>
              </a:rPr>
              <a:t> Hoàng Nam</a:t>
            </a:r>
            <a:endParaRPr kumimoji="1" lang="en-US" altLang="vi-VN" sz="2000" dirty="0">
              <a:solidFill>
                <a:schemeClr val="tx1">
                  <a:lumMod val="75000"/>
                  <a:lumOff val="25000"/>
                </a:schemeClr>
              </a:solidFill>
              <a:latin typeface="Noto Sans"/>
              <a:ea typeface="Noto Sans"/>
            </a:endParaRPr>
          </a:p>
          <a:p>
            <a:pPr>
              <a:lnSpc>
                <a:spcPct val="150000"/>
              </a:lnSpc>
            </a:pPr>
            <a:r>
              <a:rPr kumimoji="1" lang="en-US" altLang="vi-VN" sz="2000" dirty="0">
                <a:solidFill>
                  <a:schemeClr val="tx1">
                    <a:lumMod val="75000"/>
                    <a:lumOff val="25000"/>
                  </a:schemeClr>
                </a:solidFill>
                <a:latin typeface="Noto Sans"/>
                <a:ea typeface="Noto Sans"/>
              </a:rPr>
              <a:t>Sinh </a:t>
            </a:r>
            <a:r>
              <a:rPr kumimoji="1" lang="en-US" altLang="vi-VN" sz="2000" dirty="0" err="1">
                <a:solidFill>
                  <a:schemeClr val="tx1">
                    <a:lumMod val="75000"/>
                    <a:lumOff val="25000"/>
                  </a:schemeClr>
                </a:solidFill>
                <a:latin typeface="Noto Sans"/>
                <a:ea typeface="Noto Sans"/>
              </a:rPr>
              <a:t>viên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thực</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hiện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Lưu</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Bích</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Ngọc</a:t>
            </a:r>
            <a:br>
              <a:rPr kumimoji="1" lang="en-US" altLang="vi-VN" sz="2000" dirty="0">
                <a:solidFill>
                  <a:schemeClr val="tx1">
                    <a:lumMod val="75000"/>
                    <a:lumOff val="25000"/>
                  </a:schemeClr>
                </a:solidFill>
                <a:latin typeface="Noto Sans"/>
                <a:ea typeface="Noto Sans"/>
              </a:rPr>
            </a:br>
            <a:r>
              <a:rPr kumimoji="1" lang="en-US" altLang="vi-VN" sz="2000" dirty="0">
                <a:solidFill>
                  <a:schemeClr val="tx1">
                    <a:lumMod val="75000"/>
                    <a:lumOff val="25000"/>
                  </a:schemeClr>
                </a:solidFill>
                <a:latin typeface="Noto Sans"/>
                <a:ea typeface="Noto Sans"/>
              </a:rPr>
              <a:t>MSSV: 110122123</a:t>
            </a:r>
          </a:p>
        </p:txBody>
      </p:sp>
      <p:sp>
        <p:nvSpPr>
          <p:cNvPr id="20" name="椭圆 19">
            <a:extLst>
              <a:ext uri="{FF2B5EF4-FFF2-40B4-BE49-F238E27FC236}">
                <a16:creationId xmlns:a16="http://schemas.microsoft.com/office/drawing/2014/main" id="{F160FCAE-E150-AA48-A4F3-19C90870FDE6}"/>
              </a:ext>
            </a:extLst>
          </p:cNvPr>
          <p:cNvSpPr/>
          <p:nvPr/>
        </p:nvSpPr>
        <p:spPr>
          <a:xfrm>
            <a:off x="8674432" y="225094"/>
            <a:ext cx="566407" cy="572595"/>
          </a:xfrm>
          <a:prstGeom prst="ellips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TextBox 4">
            <a:extLst>
              <a:ext uri="{FF2B5EF4-FFF2-40B4-BE49-F238E27FC236}">
                <a16:creationId xmlns:a16="http://schemas.microsoft.com/office/drawing/2014/main" id="{90DD2EA5-9EB7-EFB7-167F-983F298DD923}"/>
              </a:ext>
            </a:extLst>
          </p:cNvPr>
          <p:cNvSpPr txBox="1"/>
          <p:nvPr/>
        </p:nvSpPr>
        <p:spPr>
          <a:xfrm>
            <a:off x="4172594" y="212914"/>
            <a:ext cx="4058841" cy="584775"/>
          </a:xfrm>
          <a:prstGeom prst="rect">
            <a:avLst/>
          </a:prstGeom>
          <a:noFill/>
        </p:spPr>
        <p:txBody>
          <a:bodyPr wrap="square">
            <a:spAutoFit/>
          </a:bodyPr>
          <a:lstStyle/>
          <a:p>
            <a:pPr lvl="0" algn="ctr" eaLnBrk="0" fontAlgn="base" hangingPunct="0">
              <a:spcBef>
                <a:spcPct val="0"/>
              </a:spcBef>
              <a:spcAft>
                <a:spcPct val="0"/>
              </a:spcAft>
            </a:pPr>
            <a:r>
              <a:rPr lang="vi-VN" altLang="vi-VN" sz="1600" b="1" dirty="0">
                <a:solidFill>
                  <a:schemeClr val="bg1"/>
                </a:solidFill>
                <a:latin typeface="Montserrat ExtraBold" pitchFamily="2" charset="0"/>
              </a:rPr>
              <a:t>TRƯỜNG KỸ THUẬT VÀ CÔNG NGHỆ</a:t>
            </a:r>
            <a:endParaRPr lang="en-US" altLang="vi-VN" sz="1600" b="1" dirty="0">
              <a:solidFill>
                <a:schemeClr val="bg1"/>
              </a:solidFill>
              <a:latin typeface="Montserrat ExtraBold" pitchFamily="2" charset="0"/>
            </a:endParaRPr>
          </a:p>
          <a:p>
            <a:pPr lvl="0" algn="ctr" eaLnBrk="0" fontAlgn="base" hangingPunct="0">
              <a:spcBef>
                <a:spcPct val="0"/>
              </a:spcBef>
              <a:spcAft>
                <a:spcPct val="0"/>
              </a:spcAft>
            </a:pPr>
            <a:r>
              <a:rPr lang="en-US" altLang="vi-VN" sz="1600" b="1" dirty="0">
                <a:solidFill>
                  <a:schemeClr val="bg1"/>
                </a:solidFill>
                <a:latin typeface="Montserrat ExtraBold" pitchFamily="2" charset="0"/>
              </a:rPr>
              <a:t>KHOA CÔNG NGHỆ THÔNG TIN</a:t>
            </a:r>
            <a:endParaRPr lang="vi-VN" altLang="vi-VN" sz="1600" b="1" dirty="0">
              <a:solidFill>
                <a:schemeClr val="bg1"/>
              </a:solidFill>
              <a:latin typeface="Montserrat ExtraBold" pitchFamily="2" charset="0"/>
            </a:endParaRPr>
          </a:p>
        </p:txBody>
      </p:sp>
      <p:pic>
        <p:nvPicPr>
          <p:cNvPr id="9" name="Picture 8" descr="Thông báo - tvu.edu.vn">
            <a:extLst>
              <a:ext uri="{FF2B5EF4-FFF2-40B4-BE49-F238E27FC236}">
                <a16:creationId xmlns:a16="http://schemas.microsoft.com/office/drawing/2014/main" id="{6AD8AA15-B6C0-9149-40D8-4383E76CE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2">
            <a:extLst>
              <a:ext uri="{FF2B5EF4-FFF2-40B4-BE49-F238E27FC236}">
                <a16:creationId xmlns:a16="http://schemas.microsoft.com/office/drawing/2014/main" id="{33074009-92ED-8712-E1FD-D1F7AA2D7F4D}"/>
              </a:ext>
            </a:extLst>
          </p:cNvPr>
          <p:cNvSpPr txBox="1"/>
          <p:nvPr/>
        </p:nvSpPr>
        <p:spPr>
          <a:xfrm>
            <a:off x="2450907" y="1239063"/>
            <a:ext cx="7502214" cy="1188720"/>
          </a:xfrm>
          <a:prstGeom prst="rect">
            <a:avLst/>
          </a:prstGeom>
          <a:noFill/>
        </p:spPr>
        <p:txBody>
          <a:bodyPr wrap="square" rtlCol="0">
            <a:noAutofit/>
          </a:bodyPr>
          <a:lstStyle/>
          <a:p>
            <a:pPr algn="ctr"/>
            <a:r>
              <a:rPr lang="en-US" sz="2800" dirty="0">
                <a:latin typeface="Noto Sans" panose="020B0502040504020204" pitchFamily="34" charset="0"/>
                <a:ea typeface="Noto Sans" panose="020B0502040504020204" pitchFamily="34" charset="0"/>
                <a:cs typeface="Noto Sans" panose="020B0502040504020204" pitchFamily="34" charset="0"/>
              </a:rPr>
              <a:t>-THỰC TẬP ĐỒ ÁN CƠ SỞ NGÀNH-</a:t>
            </a:r>
            <a:endParaRPr kumimoji="1" lang="vi-VN" altLang="vi-VN" sz="28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526169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dissolve">
                                      <p:cBhvr>
                                        <p:cTn id="13" dur="500"/>
                                        <p:tgtEl>
                                          <p:spTgt spid="2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linds(horizontal)">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animBg="1"/>
      <p:bldP spid="25" grpId="0"/>
      <p:bldP spid="20"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直角三角形 6">
            <a:extLst>
              <a:ext uri="{FF2B5EF4-FFF2-40B4-BE49-F238E27FC236}">
                <a16:creationId xmlns:a16="http://schemas.microsoft.com/office/drawing/2014/main" id="{EB7A35A7-2346-0440-9547-3E6251129F6F}"/>
              </a:ext>
            </a:extLst>
          </p:cNvPr>
          <p:cNvSpPr/>
          <p:nvPr/>
        </p:nvSpPr>
        <p:spPr>
          <a:xfrm rot="5400000">
            <a:off x="-1" y="9939"/>
            <a:ext cx="2238471" cy="223847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直角三角形 7">
            <a:extLst>
              <a:ext uri="{FF2B5EF4-FFF2-40B4-BE49-F238E27FC236}">
                <a16:creationId xmlns:a16="http://schemas.microsoft.com/office/drawing/2014/main" id="{3239BBC9-8136-7843-8D7A-BC3DB28D5AC2}"/>
              </a:ext>
            </a:extLst>
          </p:cNvPr>
          <p:cNvSpPr/>
          <p:nvPr/>
        </p:nvSpPr>
        <p:spPr>
          <a:xfrm rot="16200000">
            <a:off x="10372593" y="5038591"/>
            <a:ext cx="1819406" cy="1819406"/>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3" name="图片 12">
            <a:extLst>
              <a:ext uri="{FF2B5EF4-FFF2-40B4-BE49-F238E27FC236}">
                <a16:creationId xmlns:a16="http://schemas.microsoft.com/office/drawing/2014/main" id="{EE22EC61-C0FA-F943-907E-10CF7A0CD42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69404" y="5789068"/>
            <a:ext cx="1951459" cy="1819405"/>
          </a:xfrm>
          <a:prstGeom prst="rect">
            <a:avLst/>
          </a:prstGeom>
        </p:spPr>
      </p:pic>
      <p:sp>
        <p:nvSpPr>
          <p:cNvPr id="4" name="Rectangle 3">
            <a:extLst>
              <a:ext uri="{FF2B5EF4-FFF2-40B4-BE49-F238E27FC236}">
                <a16:creationId xmlns:a16="http://schemas.microsoft.com/office/drawing/2014/main" id="{1D237132-F289-49F0-88E3-8E8E2DE7BD38}"/>
              </a:ext>
            </a:extLst>
          </p:cNvPr>
          <p:cNvSpPr txBox="1">
            <a:spLocks noChangeArrowheads="1"/>
          </p:cNvSpPr>
          <p:nvPr/>
        </p:nvSpPr>
        <p:spPr>
          <a:xfrm>
            <a:off x="1554688" y="1819410"/>
            <a:ext cx="9082624" cy="30873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vi-VN" altLang="zh-CN" sz="2000" dirty="0">
                <a:solidFill>
                  <a:schemeClr val="tx1">
                    <a:lumMod val="75000"/>
                    <a:lumOff val="25000"/>
                  </a:schemeClr>
                </a:solidFill>
                <a:latin typeface="思源宋体 Heavy" panose="02020900000000000000" pitchFamily="18" charset="-122"/>
                <a:ea typeface="思源宋体 Heavy" panose="02020900000000000000" pitchFamily="18" charset="-122"/>
              </a:rPr>
              <a:t>Tô màu đồ thị là một bài toán trong lý thuyết đồ thị. Để thực hiện bài toán, ta tô màu các đỉnh của đồ thị sao cho cho hai đỉnh kề nhau khác màu.</a:t>
            </a:r>
          </a:p>
          <a:p>
            <a:pPr>
              <a:lnSpc>
                <a:spcPct val="150000"/>
              </a:lnSpc>
            </a:pPr>
            <a:r>
              <a:rPr lang="vi-VN" altLang="zh-CN" sz="2000" dirty="0">
                <a:solidFill>
                  <a:schemeClr val="tx1">
                    <a:lumMod val="75000"/>
                    <a:lumOff val="25000"/>
                  </a:schemeClr>
                </a:solidFill>
                <a:latin typeface="思源宋体 Heavy" panose="02020900000000000000" pitchFamily="18" charset="-122"/>
                <a:ea typeface="思源宋体 Heavy" panose="02020900000000000000" pitchFamily="18" charset="-122"/>
              </a:rPr>
              <a:t>Mục tiêu của đề tài là cài đặt giải thuật, tích hợp với giao diện đồ họa để biểu thị trực quan bài toán tô màu đồ thị.</a:t>
            </a:r>
          </a:p>
        </p:txBody>
      </p:sp>
      <p:sp>
        <p:nvSpPr>
          <p:cNvPr id="2" name="文本框 1">
            <a:extLst>
              <a:ext uri="{FF2B5EF4-FFF2-40B4-BE49-F238E27FC236}">
                <a16:creationId xmlns:a16="http://schemas.microsoft.com/office/drawing/2014/main" id="{9C85EE3E-FA4A-C949-AD4A-1720EA3443A7}"/>
              </a:ext>
            </a:extLst>
          </p:cNvPr>
          <p:cNvSpPr txBox="1"/>
          <p:nvPr/>
        </p:nvSpPr>
        <p:spPr>
          <a:xfrm>
            <a:off x="3804016" y="563543"/>
            <a:ext cx="4583968" cy="677266"/>
          </a:xfrm>
          <a:prstGeom prst="rect">
            <a:avLst/>
          </a:prstGeom>
          <a:noFill/>
        </p:spPr>
        <p:txBody>
          <a:bodyPr wrap="none" rtlCol="0">
            <a:normAutofit/>
          </a:bodyPr>
          <a:lstStyle/>
          <a:p>
            <a:r>
              <a:rPr kumimoji="1" lang="en-US" altLang="vi-VN" sz="3800" b="1" dirty="0">
                <a:solidFill>
                  <a:schemeClr val="tx1">
                    <a:lumMod val="75000"/>
                    <a:lumOff val="25000"/>
                  </a:schemeClr>
                </a:solidFill>
                <a:latin typeface="Noto Sans"/>
                <a:ea typeface="Noto Sans"/>
              </a:rPr>
              <a:t>GIỚI THIỆU ĐỀ TÀI</a:t>
            </a:r>
            <a:endParaRPr kumimoji="1" lang="vi-VN" altLang="vi-VN" sz="3800" b="1" dirty="0">
              <a:solidFill>
                <a:schemeClr val="tx1">
                  <a:lumMod val="75000"/>
                  <a:lumOff val="25000"/>
                </a:schemeClr>
              </a:solidFill>
              <a:latin typeface="Noto Sans"/>
              <a:ea typeface="Noto Sans"/>
            </a:endParaRPr>
          </a:p>
        </p:txBody>
      </p:sp>
      <p:pic>
        <p:nvPicPr>
          <p:cNvPr id="5" name="Picture 4" descr="Thông báo - tvu.edu.vn">
            <a:extLst>
              <a:ext uri="{FF2B5EF4-FFF2-40B4-BE49-F238E27FC236}">
                <a16:creationId xmlns:a16="http://schemas.microsoft.com/office/drawing/2014/main" id="{783A4A86-0EDB-2AAF-6018-566CA5B06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直角三角形 13">
            <a:extLst>
              <a:ext uri="{FF2B5EF4-FFF2-40B4-BE49-F238E27FC236}">
                <a16:creationId xmlns:a16="http://schemas.microsoft.com/office/drawing/2014/main" id="{F1DF11DC-3C5F-6D42-BEA9-5FE91E193E7F}"/>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连接符 14">
            <a:extLst>
              <a:ext uri="{FF2B5EF4-FFF2-40B4-BE49-F238E27FC236}">
                <a16:creationId xmlns:a16="http://schemas.microsoft.com/office/drawing/2014/main" id="{3FC7BB9C-58CC-E548-9B5A-493711EEFC4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E9B95C7-C7CF-5A47-A007-7338F3BFCA2C}"/>
              </a:ext>
            </a:extLst>
          </p:cNvPr>
          <p:cNvSpPr txBox="1"/>
          <p:nvPr/>
        </p:nvSpPr>
        <p:spPr>
          <a:xfrm>
            <a:off x="4446235" y="1031290"/>
            <a:ext cx="4188337" cy="446380"/>
          </a:xfrm>
          <a:prstGeom prst="rect">
            <a:avLst/>
          </a:prstGeom>
          <a:noFill/>
        </p:spPr>
        <p:txBody>
          <a:bodyPr wrap="none" rtlCol="0">
            <a:normAutofit/>
          </a:bodyPr>
          <a:lstStyle/>
          <a:p>
            <a:r>
              <a:rPr kumimoji="1" lang="en-US" altLang="vi-VN" sz="2300" b="1" dirty="0">
                <a:solidFill>
                  <a:schemeClr val="tx1">
                    <a:lumMod val="75000"/>
                    <a:lumOff val="25000"/>
                  </a:schemeClr>
                </a:solidFill>
                <a:latin typeface="Noto Sans"/>
                <a:ea typeface="Noto Sans"/>
              </a:rPr>
              <a:t>Lý do &amp; </a:t>
            </a:r>
            <a:r>
              <a:rPr kumimoji="1" lang="en-US" altLang="vi-VN" sz="2300" b="1" dirty="0" err="1">
                <a:solidFill>
                  <a:schemeClr val="tx1">
                    <a:lumMod val="75000"/>
                    <a:lumOff val="25000"/>
                  </a:schemeClr>
                </a:solidFill>
                <a:latin typeface="Noto Sans"/>
                <a:ea typeface="Noto Sans"/>
              </a:rPr>
              <a:t>mục</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tiêu</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nghiên</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cứu</a:t>
            </a:r>
            <a:endParaRPr kumimoji="1" lang="vi-VN" altLang="vi-VN" sz="2300" b="1" dirty="0">
              <a:solidFill>
                <a:schemeClr val="tx1">
                  <a:lumMod val="75000"/>
                  <a:lumOff val="25000"/>
                </a:schemeClr>
              </a:solidFill>
              <a:latin typeface="Noto Sans"/>
              <a:ea typeface="Noto Sans"/>
            </a:endParaRPr>
          </a:p>
        </p:txBody>
      </p:sp>
      <p:sp>
        <p:nvSpPr>
          <p:cNvPr id="19" name="文本框 18">
            <a:extLst>
              <a:ext uri="{FF2B5EF4-FFF2-40B4-BE49-F238E27FC236}">
                <a16:creationId xmlns:a16="http://schemas.microsoft.com/office/drawing/2014/main" id="{9CEFA434-B2F5-BF4B-87C2-49EC0B60D7E8}"/>
              </a:ext>
            </a:extLst>
          </p:cNvPr>
          <p:cNvSpPr txBox="1"/>
          <p:nvPr/>
        </p:nvSpPr>
        <p:spPr>
          <a:xfrm>
            <a:off x="4446235" y="1917756"/>
            <a:ext cx="3033906" cy="477164"/>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Cơ</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sở</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lý</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thuyết</a:t>
            </a:r>
            <a:r>
              <a:rPr kumimoji="1" lang="en-US" altLang="vi-VN" sz="2300" b="1" dirty="0">
                <a:solidFill>
                  <a:schemeClr val="tx1">
                    <a:lumMod val="75000"/>
                    <a:lumOff val="25000"/>
                  </a:schemeClr>
                </a:solidFill>
                <a:latin typeface="Noto Sans"/>
                <a:ea typeface="Noto Sans"/>
              </a:rPr>
              <a:t> </a:t>
            </a:r>
            <a:endParaRPr kumimoji="1" lang="vi-VN" altLang="vi-VN" sz="2300" b="1" dirty="0">
              <a:solidFill>
                <a:schemeClr val="tx1">
                  <a:lumMod val="75000"/>
                  <a:lumOff val="25000"/>
                </a:schemeClr>
              </a:solidFill>
              <a:latin typeface="Noto Sans"/>
              <a:ea typeface="Noto Sans"/>
            </a:endParaRPr>
          </a:p>
        </p:txBody>
      </p:sp>
      <p:sp>
        <p:nvSpPr>
          <p:cNvPr id="20" name="文本框 19">
            <a:extLst>
              <a:ext uri="{FF2B5EF4-FFF2-40B4-BE49-F238E27FC236}">
                <a16:creationId xmlns:a16="http://schemas.microsoft.com/office/drawing/2014/main" id="{236C2975-4CA9-F040-9BAE-DF7D29C04346}"/>
              </a:ext>
            </a:extLst>
          </p:cNvPr>
          <p:cNvSpPr txBox="1"/>
          <p:nvPr/>
        </p:nvSpPr>
        <p:spPr>
          <a:xfrm>
            <a:off x="4446235" y="2837912"/>
            <a:ext cx="4469440" cy="446380"/>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Phương</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pháp</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nghiên</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cứu</a:t>
            </a:r>
            <a:endParaRPr kumimoji="1" lang="vi-VN" altLang="vi-VN" sz="2300" b="1" dirty="0">
              <a:solidFill>
                <a:schemeClr val="tx1">
                  <a:lumMod val="75000"/>
                  <a:lumOff val="25000"/>
                </a:schemeClr>
              </a:solidFill>
              <a:latin typeface="Noto Sans"/>
              <a:ea typeface="Noto Sans"/>
            </a:endParaRPr>
          </a:p>
        </p:txBody>
      </p:sp>
      <p:sp>
        <p:nvSpPr>
          <p:cNvPr id="22" name="圆角矩形 21">
            <a:extLst>
              <a:ext uri="{FF2B5EF4-FFF2-40B4-BE49-F238E27FC236}">
                <a16:creationId xmlns:a16="http://schemas.microsoft.com/office/drawing/2014/main" id="{E6445AD5-CEAB-0545-8036-3F58ECEABFAB}"/>
              </a:ext>
            </a:extLst>
          </p:cNvPr>
          <p:cNvSpPr/>
          <p:nvPr/>
        </p:nvSpPr>
        <p:spPr>
          <a:xfrm>
            <a:off x="3637722" y="902176"/>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8C298BDD-A233-8446-B698-1E5A87A63AD5}"/>
              </a:ext>
            </a:extLst>
          </p:cNvPr>
          <p:cNvSpPr txBox="1"/>
          <p:nvPr/>
        </p:nvSpPr>
        <p:spPr>
          <a:xfrm>
            <a:off x="3726235" y="1031290"/>
            <a:ext cx="540000"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01</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25" name="圆角矩形 24">
            <a:extLst>
              <a:ext uri="{FF2B5EF4-FFF2-40B4-BE49-F238E27FC236}">
                <a16:creationId xmlns:a16="http://schemas.microsoft.com/office/drawing/2014/main" id="{2E579DAF-3060-1A4B-8700-B6A621728814}"/>
              </a:ext>
            </a:extLst>
          </p:cNvPr>
          <p:cNvSpPr/>
          <p:nvPr/>
        </p:nvSpPr>
        <p:spPr>
          <a:xfrm>
            <a:off x="3640904" y="1788642"/>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A8E24AAF-C0A2-604E-B97C-9B81782883AD}"/>
              </a:ext>
            </a:extLst>
          </p:cNvPr>
          <p:cNvSpPr txBox="1"/>
          <p:nvPr/>
        </p:nvSpPr>
        <p:spPr>
          <a:xfrm>
            <a:off x="3726235" y="1917756"/>
            <a:ext cx="540661"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2</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28" name="圆角矩形 27">
            <a:extLst>
              <a:ext uri="{FF2B5EF4-FFF2-40B4-BE49-F238E27FC236}">
                <a16:creationId xmlns:a16="http://schemas.microsoft.com/office/drawing/2014/main" id="{37511590-1902-FD46-BAA7-D577758D26A9}"/>
              </a:ext>
            </a:extLst>
          </p:cNvPr>
          <p:cNvSpPr/>
          <p:nvPr/>
        </p:nvSpPr>
        <p:spPr>
          <a:xfrm>
            <a:off x="3637722" y="2675108"/>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5CBF081F-7FFC-1D47-B194-99146C610CF2}"/>
              </a:ext>
            </a:extLst>
          </p:cNvPr>
          <p:cNvSpPr txBox="1"/>
          <p:nvPr/>
        </p:nvSpPr>
        <p:spPr>
          <a:xfrm>
            <a:off x="3731938" y="2804708"/>
            <a:ext cx="540000" cy="460800"/>
          </a:xfrm>
          <a:prstGeom prst="rect">
            <a:avLst/>
          </a:prstGeom>
          <a:noFill/>
        </p:spPr>
        <p:txBody>
          <a:bodyPr wrap="none" rtlCol="0">
            <a:noAutofit/>
          </a:bodyPr>
          <a:lstStyle/>
          <a:p>
            <a:r>
              <a:rPr kumimoji="1" lang="vi-VN" altLang="vi-VN" sz="2400" b="1" dirty="0">
                <a:solidFill>
                  <a:schemeClr val="bg1"/>
                </a:solidFill>
                <a:latin typeface="Noto Sans"/>
                <a:ea typeface="Noto Sans"/>
              </a:rPr>
              <a:t>03</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32" name="直角三角形 31">
            <a:extLst>
              <a:ext uri="{FF2B5EF4-FFF2-40B4-BE49-F238E27FC236}">
                <a16:creationId xmlns:a16="http://schemas.microsoft.com/office/drawing/2014/main" id="{82AD1AF4-D36F-204F-AC25-1B834128DCA5}"/>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a:extLst>
              <a:ext uri="{FF2B5EF4-FFF2-40B4-BE49-F238E27FC236}">
                <a16:creationId xmlns:a16="http://schemas.microsoft.com/office/drawing/2014/main" id="{21358DF4-A10B-6240-B2C3-F63C3B75129B}"/>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2" name="Picture 1" descr="Thông báo - tvu.edu.vn">
            <a:extLst>
              <a:ext uri="{FF2B5EF4-FFF2-40B4-BE49-F238E27FC236}">
                <a16:creationId xmlns:a16="http://schemas.microsoft.com/office/drawing/2014/main" id="{446D016D-9677-6BD0-B221-C558AA56E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2">
            <a:extLst>
              <a:ext uri="{FF2B5EF4-FFF2-40B4-BE49-F238E27FC236}">
                <a16:creationId xmlns:a16="http://schemas.microsoft.com/office/drawing/2014/main" id="{D993B874-BA32-BC83-0ABB-0A0EB4CB56B2}"/>
              </a:ext>
            </a:extLst>
          </p:cNvPr>
          <p:cNvSpPr txBox="1"/>
          <p:nvPr/>
        </p:nvSpPr>
        <p:spPr>
          <a:xfrm>
            <a:off x="4446235" y="3708500"/>
            <a:ext cx="4188337" cy="446380"/>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Giới</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thiệu</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thuật</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toán</a:t>
            </a:r>
            <a:endParaRPr kumimoji="1" lang="vi-VN" altLang="vi-VN" sz="2300" b="1" dirty="0">
              <a:solidFill>
                <a:schemeClr val="tx1">
                  <a:lumMod val="75000"/>
                  <a:lumOff val="25000"/>
                </a:schemeClr>
              </a:solidFill>
              <a:latin typeface="Noto Sans"/>
              <a:ea typeface="Noto Sans"/>
            </a:endParaRPr>
          </a:p>
        </p:txBody>
      </p:sp>
      <p:sp>
        <p:nvSpPr>
          <p:cNvPr id="7" name="文本框 18">
            <a:extLst>
              <a:ext uri="{FF2B5EF4-FFF2-40B4-BE49-F238E27FC236}">
                <a16:creationId xmlns:a16="http://schemas.microsoft.com/office/drawing/2014/main" id="{ABED42B9-AB8C-FF2E-0C0A-1743C8277079}"/>
              </a:ext>
            </a:extLst>
          </p:cNvPr>
          <p:cNvSpPr txBox="1"/>
          <p:nvPr/>
        </p:nvSpPr>
        <p:spPr>
          <a:xfrm>
            <a:off x="4446235" y="4594966"/>
            <a:ext cx="3033906" cy="477164"/>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Cài</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đặt</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chương</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trình</a:t>
            </a:r>
            <a:endParaRPr kumimoji="1" lang="vi-VN" altLang="vi-VN" sz="2300" b="1" dirty="0">
              <a:solidFill>
                <a:schemeClr val="tx1">
                  <a:lumMod val="75000"/>
                  <a:lumOff val="25000"/>
                </a:schemeClr>
              </a:solidFill>
              <a:latin typeface="Noto Sans"/>
              <a:ea typeface="Noto Sans"/>
            </a:endParaRPr>
          </a:p>
        </p:txBody>
      </p:sp>
      <p:sp>
        <p:nvSpPr>
          <p:cNvPr id="8" name="文本框 19">
            <a:extLst>
              <a:ext uri="{FF2B5EF4-FFF2-40B4-BE49-F238E27FC236}">
                <a16:creationId xmlns:a16="http://schemas.microsoft.com/office/drawing/2014/main" id="{C17DC520-932F-8EC5-3178-0AA2824A864B}"/>
              </a:ext>
            </a:extLst>
          </p:cNvPr>
          <p:cNvSpPr txBox="1"/>
          <p:nvPr/>
        </p:nvSpPr>
        <p:spPr>
          <a:xfrm>
            <a:off x="4446235" y="5515122"/>
            <a:ext cx="4469440" cy="446380"/>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Kết</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luận</a:t>
            </a:r>
            <a:r>
              <a:rPr kumimoji="1" lang="en-US" altLang="vi-VN" sz="2300" b="1" dirty="0">
                <a:solidFill>
                  <a:schemeClr val="tx1">
                    <a:lumMod val="75000"/>
                    <a:lumOff val="25000"/>
                  </a:schemeClr>
                </a:solidFill>
                <a:latin typeface="Noto Sans"/>
                <a:ea typeface="Noto Sans"/>
              </a:rPr>
              <a:t> &amp; </a:t>
            </a:r>
            <a:r>
              <a:rPr kumimoji="1" lang="en-US" altLang="vi-VN" sz="2300" b="1" dirty="0" err="1">
                <a:solidFill>
                  <a:schemeClr val="tx1">
                    <a:lumMod val="75000"/>
                    <a:lumOff val="25000"/>
                  </a:schemeClr>
                </a:solidFill>
                <a:latin typeface="Noto Sans"/>
                <a:ea typeface="Noto Sans"/>
              </a:rPr>
              <a:t>hướng</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phát</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triển</a:t>
            </a:r>
            <a:endParaRPr kumimoji="1" lang="vi-VN" altLang="vi-VN" sz="2300" b="1" dirty="0">
              <a:solidFill>
                <a:schemeClr val="tx1">
                  <a:lumMod val="75000"/>
                  <a:lumOff val="25000"/>
                </a:schemeClr>
              </a:solidFill>
              <a:latin typeface="Noto Sans"/>
              <a:ea typeface="Noto Sans"/>
            </a:endParaRPr>
          </a:p>
        </p:txBody>
      </p:sp>
      <p:sp>
        <p:nvSpPr>
          <p:cNvPr id="9" name="圆角矩形 21">
            <a:extLst>
              <a:ext uri="{FF2B5EF4-FFF2-40B4-BE49-F238E27FC236}">
                <a16:creationId xmlns:a16="http://schemas.microsoft.com/office/drawing/2014/main" id="{C55FAC42-DE42-8EA1-5F36-E53737D2A972}"/>
              </a:ext>
            </a:extLst>
          </p:cNvPr>
          <p:cNvSpPr/>
          <p:nvPr/>
        </p:nvSpPr>
        <p:spPr>
          <a:xfrm>
            <a:off x="3637722" y="3579386"/>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3">
            <a:extLst>
              <a:ext uri="{FF2B5EF4-FFF2-40B4-BE49-F238E27FC236}">
                <a16:creationId xmlns:a16="http://schemas.microsoft.com/office/drawing/2014/main" id="{B6951DBB-506B-5D2B-A618-EE3D389491D3}"/>
              </a:ext>
            </a:extLst>
          </p:cNvPr>
          <p:cNvSpPr txBox="1"/>
          <p:nvPr/>
        </p:nvSpPr>
        <p:spPr>
          <a:xfrm>
            <a:off x="3726235" y="3708500"/>
            <a:ext cx="540000"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4</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11" name="圆角矩形 24">
            <a:extLst>
              <a:ext uri="{FF2B5EF4-FFF2-40B4-BE49-F238E27FC236}">
                <a16:creationId xmlns:a16="http://schemas.microsoft.com/office/drawing/2014/main" id="{EDE25C0E-7F03-5D6B-CFC5-0B8324731BAF}"/>
              </a:ext>
            </a:extLst>
          </p:cNvPr>
          <p:cNvSpPr/>
          <p:nvPr/>
        </p:nvSpPr>
        <p:spPr>
          <a:xfrm>
            <a:off x="3640904" y="4465852"/>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25">
            <a:extLst>
              <a:ext uri="{FF2B5EF4-FFF2-40B4-BE49-F238E27FC236}">
                <a16:creationId xmlns:a16="http://schemas.microsoft.com/office/drawing/2014/main" id="{CAFE59BC-A7B6-40AC-4861-D2CF319F73DE}"/>
              </a:ext>
            </a:extLst>
          </p:cNvPr>
          <p:cNvSpPr txBox="1"/>
          <p:nvPr/>
        </p:nvSpPr>
        <p:spPr>
          <a:xfrm>
            <a:off x="3726235" y="4594966"/>
            <a:ext cx="540661"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5</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13" name="圆角矩形 27">
            <a:extLst>
              <a:ext uri="{FF2B5EF4-FFF2-40B4-BE49-F238E27FC236}">
                <a16:creationId xmlns:a16="http://schemas.microsoft.com/office/drawing/2014/main" id="{B9D34566-8180-4C2F-0FFF-B9E8FE5CFDBD}"/>
              </a:ext>
            </a:extLst>
          </p:cNvPr>
          <p:cNvSpPr/>
          <p:nvPr/>
        </p:nvSpPr>
        <p:spPr>
          <a:xfrm>
            <a:off x="3637722" y="5352318"/>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28">
            <a:extLst>
              <a:ext uri="{FF2B5EF4-FFF2-40B4-BE49-F238E27FC236}">
                <a16:creationId xmlns:a16="http://schemas.microsoft.com/office/drawing/2014/main" id="{68DC88D1-9B0E-EFFF-5B51-36BA7A1C405D}"/>
              </a:ext>
            </a:extLst>
          </p:cNvPr>
          <p:cNvSpPr txBox="1"/>
          <p:nvPr/>
        </p:nvSpPr>
        <p:spPr>
          <a:xfrm>
            <a:off x="3731938" y="5481918"/>
            <a:ext cx="540000" cy="460800"/>
          </a:xfrm>
          <a:prstGeom prst="rect">
            <a:avLst/>
          </a:prstGeom>
          <a:noFill/>
        </p:spPr>
        <p:txBody>
          <a:bodyPr wrap="none" rtlCol="0">
            <a:no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6</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17" name="文本框 1">
            <a:extLst>
              <a:ext uri="{FF2B5EF4-FFF2-40B4-BE49-F238E27FC236}">
                <a16:creationId xmlns:a16="http://schemas.microsoft.com/office/drawing/2014/main" id="{2F67979E-A672-EA15-6139-250A4FDFF2CC}"/>
              </a:ext>
            </a:extLst>
          </p:cNvPr>
          <p:cNvSpPr txBox="1"/>
          <p:nvPr/>
        </p:nvSpPr>
        <p:spPr>
          <a:xfrm>
            <a:off x="4950008" y="117424"/>
            <a:ext cx="2291984" cy="677266"/>
          </a:xfrm>
          <a:prstGeom prst="rect">
            <a:avLst/>
          </a:prstGeom>
          <a:noFill/>
        </p:spPr>
        <p:txBody>
          <a:bodyPr wrap="none" rtlCol="0">
            <a:normAutofit/>
          </a:bodyPr>
          <a:lstStyle/>
          <a:p>
            <a:r>
              <a:rPr kumimoji="1" lang="en-US" altLang="vi-VN" sz="3800" b="1" dirty="0">
                <a:solidFill>
                  <a:schemeClr val="tx1">
                    <a:lumMod val="75000"/>
                    <a:lumOff val="25000"/>
                  </a:schemeClr>
                </a:solidFill>
                <a:latin typeface="Noto Sans"/>
                <a:ea typeface="Noto Sans"/>
              </a:rPr>
              <a:t>MỤC LỤC</a:t>
            </a:r>
            <a:endParaRPr kumimoji="1" lang="vi-VN" altLang="vi-VN" sz="3800" b="1" dirty="0">
              <a:solidFill>
                <a:schemeClr val="tx1">
                  <a:lumMod val="75000"/>
                  <a:lumOff val="25000"/>
                </a:schemeClr>
              </a:solidFill>
              <a:latin typeface="Noto Sans"/>
              <a:ea typeface="Noto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dissolve">
                                      <p:cBhvr>
                                        <p:cTn id="15" dur="500"/>
                                        <p:tgtEl>
                                          <p:spTgt spid="1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dissolve">
                                      <p:cBhvr>
                                        <p:cTn id="18" dur="500"/>
                                        <p:tgtEl>
                                          <p:spTgt spid="20"/>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ssolve">
                                      <p:cBhvr>
                                        <p:cTn id="24" dur="500"/>
                                        <p:tgtEl>
                                          <p:spTgt spid="4"/>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dissolve">
                                      <p:cBhvr>
                                        <p:cTn id="30" dur="500"/>
                                        <p:tgtEl>
                                          <p:spTgt spid="26"/>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dissolve">
                                      <p:cBhvr>
                                        <p:cTn id="33" dur="500"/>
                                        <p:tgtEl>
                                          <p:spTgt spid="2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dissolve">
                                      <p:cBhvr>
                                        <p:cTn id="42" dur="500"/>
                                        <p:tgtEl>
                                          <p:spTgt spid="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dissolve">
                                      <p:cBhvr>
                                        <p:cTn id="45" dur="500"/>
                                        <p:tgtEl>
                                          <p:spTgt spid="8"/>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dissolve">
                                      <p:cBhvr>
                                        <p:cTn id="48" dur="500"/>
                                        <p:tgtEl>
                                          <p:spTgt spid="9"/>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dissolve">
                                      <p:cBhvr>
                                        <p:cTn id="51" dur="500"/>
                                        <p:tgtEl>
                                          <p:spTgt spid="10"/>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dissolve">
                                      <p:cBhvr>
                                        <p:cTn id="54" dur="500"/>
                                        <p:tgtEl>
                                          <p:spTgt spid="11"/>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dissolve">
                                      <p:cBhvr>
                                        <p:cTn id="57" dur="500"/>
                                        <p:tgtEl>
                                          <p:spTgt spid="12"/>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dissolve">
                                      <p:cBhvr>
                                        <p:cTn id="60" dur="500"/>
                                        <p:tgtEl>
                                          <p:spTgt spid="13"/>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dissolv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P spid="20" grpId="0"/>
      <p:bldP spid="22" grpId="0" animBg="1"/>
      <p:bldP spid="4" grpId="0"/>
      <p:bldP spid="25" grpId="0" animBg="1"/>
      <p:bldP spid="26" grpId="0"/>
      <p:bldP spid="28" grpId="0" animBg="1"/>
      <p:bldP spid="29" grpId="0"/>
      <p:bldP spid="6" grpId="0"/>
      <p:bldP spid="7" grpId="0"/>
      <p:bldP spid="8" grpId="0"/>
      <p:bldP spid="9" grpId="0" animBg="1"/>
      <p:bldP spid="10" grpId="0"/>
      <p:bldP spid="11" grpId="0" animBg="1"/>
      <p:bldP spid="12" grpId="0"/>
      <p:bldP spid="13" grpId="0" animBg="1"/>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62500" lnSpcReduction="20000"/>
          </a:bodyPr>
          <a:lstStyle/>
          <a:p>
            <a:pPr algn="dist"/>
            <a:r>
              <a:rPr kumimoji="1" lang="en-US" altLang="vi-VN" sz="5400" b="1" dirty="0">
                <a:solidFill>
                  <a:schemeClr val="tx1">
                    <a:lumMod val="75000"/>
                    <a:lumOff val="25000"/>
                  </a:schemeClr>
                </a:solidFill>
                <a:latin typeface="Noto Sans"/>
                <a:ea typeface="Noto Sans"/>
              </a:rPr>
              <a:t>LÝ DO &amp; MỤC TIÊU NGHIÊN CỨU</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1</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231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15511854-7B99-4D64-B773-08EA7E309E6D}"/>
              </a:ext>
            </a:extLst>
          </p:cNvPr>
          <p:cNvSpPr txBox="1"/>
          <p:nvPr/>
        </p:nvSpPr>
        <p:spPr>
          <a:xfrm>
            <a:off x="756188" y="1553896"/>
            <a:ext cx="10679624" cy="4664607"/>
          </a:xfrm>
          <a:prstGeom prst="rect">
            <a:avLst/>
          </a:prstGeom>
          <a:noFill/>
        </p:spPr>
        <p:txBody>
          <a:bodyPr wrap="square">
            <a:noAutofit/>
          </a:bodyPr>
          <a:lstStyle/>
          <a:p>
            <a:pPr algn="just">
              <a:lnSpc>
                <a:spcPct val="150000"/>
              </a:lnSpc>
            </a:pPr>
            <a:r>
              <a:rPr lang="vi-VN" altLang="vi-VN" sz="2400" dirty="0">
                <a:latin typeface="Noto Sans" panose="020B0502040504020204" pitchFamily="34" charset="0"/>
                <a:ea typeface="Noto Sans" panose="020B0502040504020204" pitchFamily="34" charset="0"/>
                <a:cs typeface="Noto Sans" panose="020B0502040504020204" pitchFamily="34" charset="0"/>
              </a:rPr>
              <a:t>Tô màu đồ thị là một trong những bài toán có ứng dụng nhiều</a:t>
            </a:r>
          </a:p>
          <a:p>
            <a:pPr algn="just">
              <a:lnSpc>
                <a:spcPct val="150000"/>
              </a:lnSpc>
            </a:pPr>
            <a:r>
              <a:rPr lang="vi-VN" altLang="vi-VN" sz="2400" dirty="0">
                <a:latin typeface="Noto Sans" panose="020B0502040504020204" pitchFamily="34" charset="0"/>
                <a:ea typeface="Noto Sans" panose="020B0502040504020204" pitchFamily="34" charset="0"/>
                <a:cs typeface="Noto Sans" panose="020B0502040504020204" pitchFamily="34" charset="0"/>
              </a:rPr>
              <a:t>trong thực tế như sắp xếp lịch học, phân công công việc, thiết kế mạng máy tính. Em</a:t>
            </a:r>
            <a:r>
              <a:rPr lang="en-US" altLang="vi-VN" sz="2400" dirty="0">
                <a:latin typeface="Noto Sans" panose="020B0502040504020204" pitchFamily="34" charset="0"/>
                <a:ea typeface="Noto Sans" panose="020B0502040504020204" pitchFamily="34" charset="0"/>
                <a:cs typeface="Noto Sans" panose="020B0502040504020204" pitchFamily="34" charset="0"/>
              </a:rPr>
              <a:t> </a:t>
            </a:r>
            <a:r>
              <a:rPr lang="vi-VN" altLang="vi-VN" sz="2400" dirty="0">
                <a:latin typeface="Noto Sans" panose="020B0502040504020204" pitchFamily="34" charset="0"/>
                <a:ea typeface="Noto Sans" panose="020B0502040504020204" pitchFamily="34" charset="0"/>
                <a:cs typeface="Noto Sans" panose="020B0502040504020204" pitchFamily="34" charset="0"/>
              </a:rPr>
              <a:t>nhận thấy nếu chỉ việc học lý thuyết và làm bài trên giấy rất khó hình dung cách thuật</a:t>
            </a:r>
            <a:r>
              <a:rPr lang="en-US" altLang="vi-VN" sz="2400" dirty="0">
                <a:latin typeface="Noto Sans" panose="020B0502040504020204" pitchFamily="34" charset="0"/>
                <a:ea typeface="Noto Sans" panose="020B0502040504020204" pitchFamily="34" charset="0"/>
                <a:cs typeface="Noto Sans" panose="020B0502040504020204" pitchFamily="34" charset="0"/>
              </a:rPr>
              <a:t> </a:t>
            </a:r>
            <a:r>
              <a:rPr lang="vi-VN" altLang="vi-VN" sz="2400" dirty="0">
                <a:latin typeface="Noto Sans" panose="020B0502040504020204" pitchFamily="34" charset="0"/>
                <a:ea typeface="Noto Sans" panose="020B0502040504020204" pitchFamily="34" charset="0"/>
                <a:cs typeface="Noto Sans" panose="020B0502040504020204" pitchFamily="34" charset="0"/>
              </a:rPr>
              <a:t>toán hoạt động đặc biệt là khi đồ thị có nhiều đỉnh và cạnh. Vì vậy em muốn xây dựng</a:t>
            </a:r>
            <a:r>
              <a:rPr lang="en-US" altLang="vi-VN" sz="2400" dirty="0">
                <a:latin typeface="Noto Sans" panose="020B0502040504020204" pitchFamily="34" charset="0"/>
                <a:ea typeface="Noto Sans" panose="020B0502040504020204" pitchFamily="34" charset="0"/>
                <a:cs typeface="Noto Sans" panose="020B0502040504020204" pitchFamily="34" charset="0"/>
              </a:rPr>
              <a:t> </a:t>
            </a:r>
            <a:r>
              <a:rPr lang="vi-VN" altLang="vi-VN" sz="2400" dirty="0">
                <a:latin typeface="Noto Sans" panose="020B0502040504020204" pitchFamily="34" charset="0"/>
                <a:ea typeface="Noto Sans" panose="020B0502040504020204" pitchFamily="34" charset="0"/>
                <a:cs typeface="Noto Sans" panose="020B0502040504020204" pitchFamily="34" charset="0"/>
              </a:rPr>
              <a:t>một chương trình có giao diện trực quan, giúp dễ quan sát quá trình tô màu và hiểu</a:t>
            </a:r>
            <a:r>
              <a:rPr lang="en-US" altLang="vi-VN" sz="2400" dirty="0">
                <a:latin typeface="Noto Sans" panose="020B0502040504020204" pitchFamily="34" charset="0"/>
                <a:ea typeface="Noto Sans" panose="020B0502040504020204" pitchFamily="34" charset="0"/>
                <a:cs typeface="Noto Sans" panose="020B0502040504020204" pitchFamily="34" charset="0"/>
              </a:rPr>
              <a:t> </a:t>
            </a:r>
            <a:r>
              <a:rPr lang="vi-VN" altLang="vi-VN" sz="2400" dirty="0">
                <a:latin typeface="Noto Sans" panose="020B0502040504020204" pitchFamily="34" charset="0"/>
                <a:ea typeface="Noto Sans" panose="020B0502040504020204" pitchFamily="34" charset="0"/>
                <a:cs typeface="Noto Sans" panose="020B0502040504020204" pitchFamily="34" charset="0"/>
              </a:rPr>
              <a:t>rõ cách hoạt động của thuật toán.</a:t>
            </a:r>
          </a:p>
        </p:txBody>
      </p:sp>
      <p:sp>
        <p:nvSpPr>
          <p:cNvPr id="20" name="文本框 19">
            <a:extLst>
              <a:ext uri="{FF2B5EF4-FFF2-40B4-BE49-F238E27FC236}">
                <a16:creationId xmlns:a16="http://schemas.microsoft.com/office/drawing/2014/main" id="{34D3F9F1-55EC-7D46-BC61-C55753C282AA}"/>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LÝ DO CHỌN ĐỀ TÀI</a:t>
            </a:r>
            <a:endParaRPr kumimoji="1" lang="vi-VN" altLang="vi-VN" sz="2100" b="1" dirty="0">
              <a:solidFill>
                <a:srgbClr val="24325B"/>
              </a:solidFill>
              <a:latin typeface="Noto Sans"/>
              <a:ea typeface="Noto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15511854-7B99-4D64-B773-08EA7E309E6D}"/>
              </a:ext>
            </a:extLst>
          </p:cNvPr>
          <p:cNvSpPr txBox="1"/>
          <p:nvPr/>
        </p:nvSpPr>
        <p:spPr>
          <a:xfrm>
            <a:off x="756188" y="1958048"/>
            <a:ext cx="10679624" cy="2941904"/>
          </a:xfrm>
          <a:prstGeom prst="rect">
            <a:avLst/>
          </a:prstGeom>
          <a:noFill/>
        </p:spPr>
        <p:txBody>
          <a:bodyPr wrap="square">
            <a:noAutofit/>
          </a:bodyPr>
          <a:lstStyle/>
          <a:p>
            <a:pPr marL="342900" indent="-342900">
              <a:lnSpc>
                <a:spcPct val="150000"/>
              </a:lnSpc>
              <a:buFont typeface="Arial" panose="020B0604020202020204" pitchFamily="34" charset="0"/>
              <a:buChar char="•"/>
            </a:pPr>
            <a:r>
              <a:rPr lang="vi-VN" sz="2800" dirty="0">
                <a:latin typeface="Noto Sans" panose="020B0502040504020204" pitchFamily="34" charset="0"/>
                <a:ea typeface="Noto Sans" panose="020B0502040504020204" pitchFamily="34" charset="0"/>
                <a:cs typeface="Noto Sans" panose="020B0502040504020204" pitchFamily="34" charset="0"/>
              </a:rPr>
              <a:t>Xây dựng chương trình mô phỏng giải thuật tô màu có giao diện đơn giản</a:t>
            </a:r>
            <a:r>
              <a:rPr lang="en-US" sz="2800" dirty="0">
                <a:latin typeface="Noto Sans" panose="020B0502040504020204" pitchFamily="34" charset="0"/>
                <a:ea typeface="Noto Sans" panose="020B0502040504020204" pitchFamily="34" charset="0"/>
                <a:cs typeface="Noto Sans" panose="020B0502040504020204" pitchFamily="34" charset="0"/>
              </a:rPr>
              <a:t> </a:t>
            </a:r>
            <a:r>
              <a:rPr lang="vi-VN" sz="2800" dirty="0">
                <a:latin typeface="Noto Sans" panose="020B0502040504020204" pitchFamily="34" charset="0"/>
                <a:ea typeface="Noto Sans" panose="020B0502040504020204" pitchFamily="34" charset="0"/>
                <a:cs typeface="Noto Sans" panose="020B0502040504020204" pitchFamily="34" charset="0"/>
              </a:rPr>
              <a:t>và dễ sử dụng.</a:t>
            </a:r>
          </a:p>
          <a:p>
            <a:pPr marL="342900" indent="-342900">
              <a:lnSpc>
                <a:spcPct val="150000"/>
              </a:lnSpc>
              <a:buFont typeface="Arial" panose="020B0604020202020204" pitchFamily="34" charset="0"/>
              <a:buChar char="•"/>
            </a:pPr>
            <a:r>
              <a:rPr lang="vi-VN" sz="2800" dirty="0">
                <a:latin typeface="Noto Sans" panose="020B0502040504020204" pitchFamily="34" charset="0"/>
                <a:ea typeface="Noto Sans" panose="020B0502040504020204" pitchFamily="34" charset="0"/>
                <a:cs typeface="Noto Sans" panose="020B0502040504020204" pitchFamily="34" charset="0"/>
              </a:rPr>
              <a:t>Cài đặt giải thuật: Cài đặt hai thuật toán tô màu là Greedy và Welch-Powell.</a:t>
            </a:r>
            <a:endParaRPr lang="vi-VN" altLang="vi-VN"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文本框 19">
            <a:extLst>
              <a:ext uri="{FF2B5EF4-FFF2-40B4-BE49-F238E27FC236}">
                <a16:creationId xmlns:a16="http://schemas.microsoft.com/office/drawing/2014/main" id="{34D3F9F1-55EC-7D46-BC61-C55753C282AA}"/>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MỤC TIÊU NGHIÊN CỨU</a:t>
            </a:r>
            <a:endParaRPr kumimoji="1" lang="vi-VN" altLang="vi-VN" sz="2100" b="1" dirty="0">
              <a:solidFill>
                <a:srgbClr val="24325B"/>
              </a:solidFill>
              <a:latin typeface="Noto Sans"/>
              <a:ea typeface="Noto Sans"/>
            </a:endParaRPr>
          </a:p>
        </p:txBody>
      </p:sp>
    </p:spTree>
    <p:extLst>
      <p:ext uri="{BB962C8B-B14F-4D97-AF65-F5344CB8AC3E}">
        <p14:creationId xmlns:p14="http://schemas.microsoft.com/office/powerpoint/2010/main" val="2990038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a:bodyPr>
          <a:lstStyle/>
          <a:p>
            <a:pPr algn="dist"/>
            <a:r>
              <a:rPr kumimoji="1" lang="en-US" altLang="vi-VN" sz="5400" b="1" dirty="0">
                <a:solidFill>
                  <a:schemeClr val="tx1">
                    <a:lumMod val="75000"/>
                    <a:lumOff val="25000"/>
                  </a:schemeClr>
                </a:solidFill>
                <a:latin typeface="Noto Sans"/>
                <a:ea typeface="Noto Sans"/>
              </a:rPr>
              <a:t>CƠ SỞ LÝ THUYẾT</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2</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031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DB4C168-76D2-2E47-9F6F-6214F701E8E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CƠ SỞ LÝ THUYẾT</a:t>
            </a:r>
            <a:endParaRPr kumimoji="1" lang="vi-VN" altLang="vi-VN" sz="2100" b="1" dirty="0">
              <a:solidFill>
                <a:srgbClr val="24325B"/>
              </a:solidFill>
              <a:latin typeface="Noto Sans"/>
              <a:ea typeface="Noto Sans"/>
            </a:endParaRPr>
          </a:p>
        </p:txBody>
      </p:sp>
      <p:sp>
        <p:nvSpPr>
          <p:cNvPr id="7" name="Rectangle 4">
            <a:extLst>
              <a:ext uri="{FF2B5EF4-FFF2-40B4-BE49-F238E27FC236}">
                <a16:creationId xmlns:a16="http://schemas.microsoft.com/office/drawing/2014/main" id="{08454A73-EF5B-9C0B-00B9-12AD227BCE1B}"/>
              </a:ext>
            </a:extLst>
          </p:cNvPr>
          <p:cNvSpPr>
            <a:spLocks noGrp="1" noChangeArrowheads="1"/>
          </p:cNvSpPr>
          <p:nvPr>
            <p:ph type="body" idx="4294967295"/>
          </p:nvPr>
        </p:nvSpPr>
        <p:spPr bwMode="auto">
          <a:xfrm>
            <a:off x="1010444" y="1316444"/>
            <a:ext cx="10171111" cy="1695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vi-VN" altLang="en-US" sz="24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 thị là một cấu trúc rời rạc bao gồm các đỉnh và các cạnh nối các đỉnh này. Chúng ta phân biệt các loại đồ thị khác nhau bởi kiểu và số lượng cạnh nối hai đỉnh nào đó của đồ thị.</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DB4C168-76D2-2E47-9F6F-6214F701E8E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CƠ SỞ LÝ THUYẾT</a:t>
            </a:r>
            <a:endParaRPr kumimoji="1" lang="vi-VN" altLang="vi-VN" sz="2100" b="1" dirty="0">
              <a:solidFill>
                <a:srgbClr val="24325B"/>
              </a:solidFill>
              <a:latin typeface="Noto Sans"/>
              <a:ea typeface="Noto Sans"/>
            </a:endParaRPr>
          </a:p>
        </p:txBody>
      </p:sp>
      <p:sp>
        <p:nvSpPr>
          <p:cNvPr id="7" name="Rectangle 4">
            <a:extLst>
              <a:ext uri="{FF2B5EF4-FFF2-40B4-BE49-F238E27FC236}">
                <a16:creationId xmlns:a16="http://schemas.microsoft.com/office/drawing/2014/main" id="{08454A73-EF5B-9C0B-00B9-12AD227BCE1B}"/>
              </a:ext>
            </a:extLst>
          </p:cNvPr>
          <p:cNvSpPr>
            <a:spLocks noGrp="1" noChangeArrowheads="1"/>
          </p:cNvSpPr>
          <p:nvPr>
            <p:ph type="body" idx="4294967295"/>
          </p:nvPr>
        </p:nvSpPr>
        <p:spPr bwMode="auto">
          <a:xfrm>
            <a:off x="1010444" y="1303127"/>
            <a:ext cx="10171111" cy="5013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a:r>
              <a:rPr lang="vi-VN" sz="2000" dirty="0">
                <a:effectLst/>
                <a:latin typeface="Noto Sans" panose="020B0502040504020204" pitchFamily="34" charset="0"/>
                <a:ea typeface="Noto Sans" panose="020B0502040504020204" pitchFamily="34" charset="0"/>
                <a:cs typeface="Noto Sans" panose="020B0502040504020204" pitchFamily="34" charset="0"/>
              </a:rPr>
              <a:t>Một số định nghĩa:</a:t>
            </a:r>
          </a:p>
          <a:p>
            <a:pPr marL="969645" lvl="1" indent="-285750">
              <a:lnSpc>
                <a:spcPct val="150000"/>
              </a:lnSpc>
              <a:spcBef>
                <a:spcPts val="600"/>
              </a:spcBef>
              <a:spcAft>
                <a:spcPts val="600"/>
              </a:spcAft>
              <a:buFont typeface="Courier New" panose="02070309020205020404" pitchFamily="49" charset="0"/>
              <a:buChar char="o"/>
              <a:tabLst>
                <a:tab pos="5257800" algn="l"/>
              </a:tabLst>
            </a:pPr>
            <a:r>
              <a:rPr lang="vi-VN" sz="2000" kern="100" dirty="0">
                <a:effectLst/>
                <a:latin typeface="Noto Sans" panose="020B0502040504020204" pitchFamily="34" charset="0"/>
                <a:ea typeface="Noto Sans" panose="020B0502040504020204" pitchFamily="34" charset="0"/>
                <a:cs typeface="Noto Sans" panose="020B0502040504020204" pitchFamily="34" charset="0"/>
              </a:rPr>
              <a:t>Đồ thị vô hướng G = (V, E) bao gồm V là tập các đỉnh, và E là tập các cặp không có</a:t>
            </a:r>
            <a:r>
              <a:rPr lang="vi-VN" sz="2000" kern="100" dirty="0">
                <a:latin typeface="Noto Sans" panose="020B0502040504020204" pitchFamily="34" charset="0"/>
                <a:ea typeface="Noto Sans" panose="020B0502040504020204" pitchFamily="34" charset="0"/>
                <a:cs typeface="Noto Sans" panose="020B0502040504020204" pitchFamily="34" charset="0"/>
              </a:rPr>
              <a:t> </a:t>
            </a:r>
            <a:r>
              <a:rPr lang="vi-VN" sz="2000" dirty="0">
                <a:effectLst/>
                <a:latin typeface="Noto Sans" panose="020B0502040504020204" pitchFamily="34" charset="0"/>
                <a:ea typeface="Noto Sans" panose="020B0502040504020204" pitchFamily="34" charset="0"/>
                <a:cs typeface="Noto Sans" panose="020B0502040504020204" pitchFamily="34" charset="0"/>
              </a:rPr>
              <a:t>thứ tự gồm hai phần tử khác nhau của V gọi là các cạnh</a:t>
            </a:r>
            <a:r>
              <a:rPr lang="vi-VN" sz="2000" dirty="0">
                <a:latin typeface="Noto Sans" panose="020B0502040504020204" pitchFamily="34" charset="0"/>
                <a:ea typeface="Noto Sans" panose="020B0502040504020204" pitchFamily="34" charset="0"/>
                <a:cs typeface="Noto Sans" panose="020B0502040504020204" pitchFamily="34" charset="0"/>
              </a:rPr>
              <a:t>.</a:t>
            </a:r>
            <a:endParaRPr lang="en-US" sz="2000" dirty="0">
              <a:latin typeface="Noto Sans" panose="020B0502040504020204" pitchFamily="34" charset="0"/>
              <a:ea typeface="Noto Sans" panose="020B0502040504020204" pitchFamily="34" charset="0"/>
              <a:cs typeface="Noto Sans" panose="020B0502040504020204" pitchFamily="34" charset="0"/>
            </a:endParaRPr>
          </a:p>
          <a:p>
            <a:pPr marL="969645" lvl="1" indent="-285750">
              <a:lnSpc>
                <a:spcPct val="150000"/>
              </a:lnSpc>
              <a:spcBef>
                <a:spcPts val="600"/>
              </a:spcBef>
              <a:spcAft>
                <a:spcPts val="600"/>
              </a:spcAft>
              <a:buFont typeface="Courier New" panose="02070309020205020404" pitchFamily="49" charset="0"/>
              <a:buChar char="o"/>
              <a:tabLst>
                <a:tab pos="5257800" algn="l"/>
              </a:tabLst>
            </a:pPr>
            <a:r>
              <a:rPr lang="en-US" sz="2000" kern="100" dirty="0">
                <a:effectLst/>
                <a:latin typeface="Noto Sans" panose="020B0502040504020204" pitchFamily="34" charset="0"/>
                <a:ea typeface="Noto Sans" panose="020B0502040504020204" pitchFamily="34" charset="0"/>
                <a:cs typeface="Noto Sans" panose="020B0502040504020204" pitchFamily="34" charset="0"/>
              </a:rPr>
              <a:t>Hai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đỉnh</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được</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gọi</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là</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liền</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kề</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nhau</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nếu</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có</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cạnh</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nối</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hai</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đỉnh</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đó</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với</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nhau</a:t>
            </a:r>
            <a:r>
              <a:rPr lang="en-US" sz="2000" kern="100" dirty="0">
                <a:effectLst/>
                <a:latin typeface="Noto Sans" panose="020B0502040504020204" pitchFamily="34" charset="0"/>
                <a:ea typeface="Noto Sans" panose="020B0502040504020204" pitchFamily="34" charset="0"/>
                <a:cs typeface="Noto Sans" panose="020B0502040504020204" pitchFamily="34" charset="0"/>
              </a:rPr>
              <a:t>. </a:t>
            </a:r>
            <a:r>
              <a:rPr lang="en-US" sz="2000" kern="100" dirty="0" err="1">
                <a:effectLst/>
                <a:latin typeface="Noto Sans" panose="020B0502040504020204" pitchFamily="34" charset="0"/>
                <a:ea typeface="Noto Sans" panose="020B0502040504020204" pitchFamily="34" charset="0"/>
                <a:cs typeface="Noto Sans" panose="020B0502040504020204" pitchFamily="34" charset="0"/>
              </a:rPr>
              <a:t>Cạnh</a:t>
            </a:r>
            <a:r>
              <a:rPr lang="en-US" sz="2000" kern="1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nối</a:t>
            </a:r>
            <a:r>
              <a:rPr lang="en-US" sz="2000" dirty="0">
                <a:effectLst/>
                <a:latin typeface="Noto Sans" panose="020B0502040504020204" pitchFamily="34" charset="0"/>
                <a:ea typeface="Noto Sans" panose="020B0502040504020204" pitchFamily="34" charset="0"/>
                <a:cs typeface="Noto Sans" panose="020B0502040504020204" pitchFamily="34" charset="0"/>
              </a:rPr>
              <a:t> 2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đỉnh</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lại</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với</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nhau</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được</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gọi</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là</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cạnh</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liên</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thuộc</a:t>
            </a:r>
            <a:r>
              <a:rPr lang="en-US" sz="2000" dirty="0">
                <a:effectLst/>
                <a:latin typeface="Noto Sans" panose="020B0502040504020204" pitchFamily="34" charset="0"/>
                <a:ea typeface="Noto Sans" panose="020B0502040504020204" pitchFamily="34" charset="0"/>
                <a:cs typeface="Noto Sans" panose="020B0502040504020204" pitchFamily="34" charset="0"/>
              </a:rPr>
              <a:t>.</a:t>
            </a:r>
          </a:p>
          <a:p>
            <a:pPr marL="969645" lvl="1" indent="-285750">
              <a:lnSpc>
                <a:spcPct val="150000"/>
              </a:lnSpc>
              <a:spcBef>
                <a:spcPts val="600"/>
              </a:spcBef>
              <a:spcAft>
                <a:spcPts val="600"/>
              </a:spcAft>
              <a:buFont typeface="Courier New" panose="02070309020205020404" pitchFamily="49" charset="0"/>
              <a:buChar char="o"/>
              <a:tabLst>
                <a:tab pos="5257800" algn="l"/>
              </a:tabLst>
            </a:pPr>
            <a:r>
              <a:rPr lang="vi-VN" sz="2000" dirty="0">
                <a:effectLst/>
                <a:latin typeface="Noto Sans" panose="020B0502040504020204" pitchFamily="34" charset="0"/>
                <a:ea typeface="Noto Sans" panose="020B0502040504020204" pitchFamily="34" charset="0"/>
                <a:cs typeface="Noto Sans" panose="020B0502040504020204" pitchFamily="34" charset="0"/>
              </a:rPr>
              <a:t>Tô màu một đơn đồ thị là việc gán màu cho các đỉnh của nó sao cho hai đỉnh liền kề có màu khác nhau. Mỗi đồ thị có thể có nhiều cách tô màu khác nhau.</a:t>
            </a:r>
          </a:p>
          <a:p>
            <a:pPr marL="969645" lvl="1" indent="-285750">
              <a:lnSpc>
                <a:spcPct val="150000"/>
              </a:lnSpc>
              <a:spcBef>
                <a:spcPts val="600"/>
              </a:spcBef>
              <a:spcAft>
                <a:spcPts val="600"/>
              </a:spcAft>
              <a:buFont typeface="Courier New" panose="02070309020205020404" pitchFamily="49" charset="0"/>
              <a:buChar char="o"/>
              <a:tabLst>
                <a:tab pos="5257800" algn="l"/>
              </a:tabLst>
            </a:pPr>
            <a:r>
              <a:rPr lang="vi-VN" sz="2000" dirty="0">
                <a:effectLst/>
                <a:latin typeface="Noto Sans" panose="020B0502040504020204" pitchFamily="34" charset="0"/>
                <a:ea typeface="Noto Sans" panose="020B0502040504020204" pitchFamily="34" charset="0"/>
                <a:cs typeface="Noto Sans" panose="020B0502040504020204" pitchFamily="34" charset="0"/>
              </a:rPr>
              <a:t>Số màu hay sắc số (Chromatic number) của một đồ thị G là số màu tối thiểu cần thiết để tô màu G. Ký hiệu: ƴ(G).</a:t>
            </a:r>
          </a:p>
        </p:txBody>
      </p:sp>
    </p:spTree>
    <p:extLst>
      <p:ext uri="{BB962C8B-B14F-4D97-AF65-F5344CB8AC3E}">
        <p14:creationId xmlns:p14="http://schemas.microsoft.com/office/powerpoint/2010/main" val="42167457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85000" lnSpcReduction="10000"/>
          </a:bodyPr>
          <a:lstStyle/>
          <a:p>
            <a:pPr algn="dist"/>
            <a:r>
              <a:rPr kumimoji="1" lang="en-US" altLang="vi-VN" sz="5400" b="1" dirty="0">
                <a:solidFill>
                  <a:schemeClr val="tx1">
                    <a:lumMod val="75000"/>
                    <a:lumOff val="25000"/>
                  </a:schemeClr>
                </a:solidFill>
                <a:latin typeface="Noto Sans"/>
                <a:ea typeface="Noto Sans"/>
              </a:rPr>
              <a:t>GIỚI THIỆU THUẬT TOÁN</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3</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214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A4AF48BE-4913-C446-A702-841C8F0BC93A}"/>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Giới</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thiệu</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thuật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toán</a:t>
            </a:r>
            <a:endParaRPr kumimoji="1" lang="vi-VN" altLang="vi-VN" sz="2100" b="1" dirty="0">
              <a:solidFill>
                <a:srgbClr val="24325B"/>
              </a:solidFill>
              <a:latin typeface="Noto Sans"/>
              <a:ea typeface="Noto Sans"/>
            </a:endParaRPr>
          </a:p>
        </p:txBody>
      </p:sp>
      <p:sp>
        <p:nvSpPr>
          <p:cNvPr id="10" name="Rectangle 3">
            <a:extLst>
              <a:ext uri="{FF2B5EF4-FFF2-40B4-BE49-F238E27FC236}">
                <a16:creationId xmlns:a16="http://schemas.microsoft.com/office/drawing/2014/main" id="{CAF18DAF-78B0-87F6-AC60-7EF6B0F22871}"/>
              </a:ext>
            </a:extLst>
          </p:cNvPr>
          <p:cNvSpPr>
            <a:spLocks noChangeArrowheads="1"/>
          </p:cNvSpPr>
          <p:nvPr/>
        </p:nvSpPr>
        <p:spPr bwMode="auto">
          <a:xfrm>
            <a:off x="1266825" y="1509823"/>
            <a:ext cx="9658350" cy="4659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Thuật toán Welch-Powell :</a:t>
            </a:r>
          </a:p>
          <a:p>
            <a:pPr marL="800100" lvl="1" indent="-342900" eaLnBrk="0" fontAlgn="base" hangingPunct="0">
              <a:lnSpc>
                <a:spcPct val="150000"/>
              </a:lnSpc>
              <a:spcBef>
                <a:spcPct val="0"/>
              </a:spcBef>
              <a:spcAft>
                <a:spcPct val="0"/>
              </a:spcAft>
              <a:buFont typeface="Courier New" panose="02070309020205020404" pitchFamily="49" charset="0"/>
              <a:buChar char="o"/>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Sắp xếp các đỉnh G theo bậc giảm dần.</a:t>
            </a:r>
          </a:p>
          <a:p>
            <a:pPr marL="800100" lvl="1" indent="-342900" eaLnBrk="0" fontAlgn="base" hangingPunct="0">
              <a:lnSpc>
                <a:spcPct val="150000"/>
              </a:lnSpc>
              <a:spcBef>
                <a:spcPct val="0"/>
              </a:spcBef>
              <a:spcAft>
                <a:spcPct val="0"/>
              </a:spcAft>
              <a:buFont typeface="Courier New" panose="02070309020205020404" pitchFamily="49" charset="0"/>
              <a:buChar char="o"/>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Dùng một màu để tô đỉnh đầu tiên và cũng dùng màu này để tô màu các đỉnh liên tiếp trong danh sách mà không kề với đỉnh đầu tiên.</a:t>
            </a:r>
          </a:p>
          <a:p>
            <a:pPr marL="800100" lvl="1" indent="-342900" eaLnBrk="0" fontAlgn="base" hangingPunct="0">
              <a:lnSpc>
                <a:spcPct val="150000"/>
              </a:lnSpc>
              <a:spcBef>
                <a:spcPct val="0"/>
              </a:spcBef>
              <a:spcAft>
                <a:spcPct val="0"/>
              </a:spcAft>
              <a:buFont typeface="Courier New" panose="02070309020205020404" pitchFamily="49" charset="0"/>
              <a:buChar char="o"/>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Bắt đầu trở lại đầu danh sách, tô màu thứ hai cho đỉnh chưa được tô và lặp lại quá trình trên cho đến khi tất cả các đỉnh đều được tô màu.</a:t>
            </a: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Thuật toán Backtracking :</a:t>
            </a:r>
          </a:p>
          <a:p>
            <a:pPr marL="800100" lvl="1" indent="-342900" eaLnBrk="0" fontAlgn="base" hangingPunct="0">
              <a:lnSpc>
                <a:spcPct val="150000"/>
              </a:lnSpc>
              <a:spcBef>
                <a:spcPct val="0"/>
              </a:spcBef>
              <a:spcAft>
                <a:spcPct val="0"/>
              </a:spcAft>
              <a:buFont typeface="Courier New" panose="02070309020205020404" pitchFamily="49" charset="0"/>
              <a:buChar char="o"/>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Thử màu cho từng đỉnh, bắt đầu từ đỉnh đầu tiên.</a:t>
            </a:r>
          </a:p>
          <a:p>
            <a:pPr marL="800100" lvl="1" indent="-342900" eaLnBrk="0" fontAlgn="base" hangingPunct="0">
              <a:lnSpc>
                <a:spcPct val="150000"/>
              </a:lnSpc>
              <a:spcBef>
                <a:spcPct val="0"/>
              </a:spcBef>
              <a:spcAft>
                <a:spcPct val="0"/>
              </a:spcAft>
              <a:buFont typeface="Courier New" panose="02070309020205020404" pitchFamily="49" charset="0"/>
              <a:buChar char="o"/>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Nếu không có màu hợp lệ, quay về đỉnh trước đó để thử một màu khác.</a:t>
            </a:r>
          </a:p>
          <a:p>
            <a:pPr marL="800100" lvl="1" indent="-342900" eaLnBrk="0" fontAlgn="base" hangingPunct="0">
              <a:lnSpc>
                <a:spcPct val="150000"/>
              </a:lnSpc>
              <a:spcBef>
                <a:spcPct val="0"/>
              </a:spcBef>
              <a:spcAft>
                <a:spcPct val="0"/>
              </a:spcAft>
              <a:buFont typeface="Courier New" panose="02070309020205020404" pitchFamily="49" charset="0"/>
              <a:buChar char="o"/>
            </a:pPr>
            <a:r>
              <a:rPr kumimoji="0" lang="vi-VN"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Kết thúc khi tất cả các đỉnh đều được tô màu.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85000" lnSpcReduction="10000"/>
          </a:bodyPr>
          <a:lstStyle/>
          <a:p>
            <a:pPr algn="dist"/>
            <a:r>
              <a:rPr kumimoji="1" lang="en-US" altLang="vi-VN" sz="5400" b="1" dirty="0">
                <a:solidFill>
                  <a:schemeClr val="tx1">
                    <a:lumMod val="75000"/>
                    <a:lumOff val="25000"/>
                  </a:schemeClr>
                </a:solidFill>
                <a:latin typeface="Noto Sans"/>
                <a:ea typeface="Noto Sans"/>
              </a:rPr>
              <a:t>CÀI ĐẶT CHƯƠNG TRÌNH</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4</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698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Cài</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đặt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trình</a:t>
            </a:r>
            <a:endParaRPr kumimoji="1" lang="vi-VN" altLang="vi-VN" sz="2100" b="1" dirty="0">
              <a:solidFill>
                <a:srgbClr val="24325B"/>
              </a:solidFill>
              <a:latin typeface="Noto Sans"/>
              <a:ea typeface="Noto Sans"/>
            </a:endParaRPr>
          </a:p>
        </p:txBody>
      </p:sp>
      <p:sp>
        <p:nvSpPr>
          <p:cNvPr id="8" name="Rectangle 5">
            <a:extLst>
              <a:ext uri="{FF2B5EF4-FFF2-40B4-BE49-F238E27FC236}">
                <a16:creationId xmlns:a16="http://schemas.microsoft.com/office/drawing/2014/main" id="{2FE0B713-5DBD-73EE-A66E-52EC1D3630B3}"/>
              </a:ext>
            </a:extLst>
          </p:cNvPr>
          <p:cNvSpPr>
            <a:spLocks noChangeArrowheads="1"/>
          </p:cNvSpPr>
          <p:nvPr/>
        </p:nvSpPr>
        <p:spPr bwMode="auto">
          <a:xfrm>
            <a:off x="1130197" y="1458282"/>
            <a:ext cx="10458450" cy="504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00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Khai</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báo</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viện</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2" name="Picture 1">
            <a:extLst>
              <a:ext uri="{FF2B5EF4-FFF2-40B4-BE49-F238E27FC236}">
                <a16:creationId xmlns:a16="http://schemas.microsoft.com/office/drawing/2014/main" id="{9D87B830-7CD9-0630-0BFD-A1D27AE4B6D4}"/>
              </a:ext>
            </a:extLst>
          </p:cNvPr>
          <p:cNvPicPr>
            <a:picLocks noChangeAspect="1"/>
          </p:cNvPicPr>
          <p:nvPr/>
        </p:nvPicPr>
        <p:blipFill>
          <a:blip r:embed="rId2"/>
          <a:stretch>
            <a:fillRect/>
          </a:stretch>
        </p:blipFill>
        <p:spPr>
          <a:xfrm>
            <a:off x="2056521" y="2362200"/>
            <a:ext cx="8078958" cy="1600200"/>
          </a:xfrm>
          <a:prstGeom prst="rect">
            <a:avLst/>
          </a:prstGeom>
        </p:spPr>
      </p:pic>
    </p:spTree>
    <p:extLst>
      <p:ext uri="{BB962C8B-B14F-4D97-AF65-F5344CB8AC3E}">
        <p14:creationId xmlns:p14="http://schemas.microsoft.com/office/powerpoint/2010/main" val="2183552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Cài</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đặt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trình</a:t>
            </a:r>
            <a:endParaRPr kumimoji="1" lang="vi-VN" altLang="vi-VN" sz="2100" b="1" dirty="0">
              <a:solidFill>
                <a:srgbClr val="24325B"/>
              </a:solidFill>
              <a:latin typeface="Noto Sans"/>
              <a:ea typeface="Noto Sans"/>
            </a:endParaRPr>
          </a:p>
        </p:txBody>
      </p:sp>
      <p:sp>
        <p:nvSpPr>
          <p:cNvPr id="8" name="Rectangle 5">
            <a:extLst>
              <a:ext uri="{FF2B5EF4-FFF2-40B4-BE49-F238E27FC236}">
                <a16:creationId xmlns:a16="http://schemas.microsoft.com/office/drawing/2014/main" id="{2FE0B713-5DBD-73EE-A66E-52EC1D3630B3}"/>
              </a:ext>
            </a:extLst>
          </p:cNvPr>
          <p:cNvSpPr>
            <a:spLocks noChangeArrowheads="1"/>
          </p:cNvSpPr>
          <p:nvPr/>
        </p:nvSpPr>
        <p:spPr bwMode="auto">
          <a:xfrm>
            <a:off x="1130197" y="1247038"/>
            <a:ext cx="10458450" cy="463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dirty="0" err="1">
                <a:latin typeface="Noto Sans" panose="020B0502040504020204" pitchFamily="34" charset="0"/>
                <a:ea typeface="Noto Sans" panose="020B0502040504020204" pitchFamily="34" charset="0"/>
                <a:cs typeface="Noto Sans" panose="020B0502040504020204" pitchFamily="34" charset="0"/>
              </a:rPr>
              <a:t>Khởi</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tạo</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đồ</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thị</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và</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hàm</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update_matrix</a:t>
            </a:r>
            <a:r>
              <a:rPr lang="en-US" dirty="0">
                <a:latin typeface="Noto Sans" panose="020B0502040504020204" pitchFamily="34" charset="0"/>
                <a:ea typeface="Noto Sans" panose="020B0502040504020204" pitchFamily="34" charset="0"/>
                <a:cs typeface="Noto Sans" panose="020B0502040504020204" pitchFamily="34" charset="0"/>
              </a:rPr>
              <a:t>.</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4" name="Picture 3">
            <a:extLst>
              <a:ext uri="{FF2B5EF4-FFF2-40B4-BE49-F238E27FC236}">
                <a16:creationId xmlns:a16="http://schemas.microsoft.com/office/drawing/2014/main" id="{EDC6ECC9-BCEC-6562-1F84-E205AB1109B4}"/>
              </a:ext>
            </a:extLst>
          </p:cNvPr>
          <p:cNvPicPr>
            <a:picLocks noChangeAspect="1"/>
          </p:cNvPicPr>
          <p:nvPr/>
        </p:nvPicPr>
        <p:blipFill>
          <a:blip r:embed="rId2"/>
          <a:stretch>
            <a:fillRect/>
          </a:stretch>
        </p:blipFill>
        <p:spPr>
          <a:xfrm>
            <a:off x="3112431" y="1867320"/>
            <a:ext cx="5967138" cy="3743642"/>
          </a:xfrm>
          <a:prstGeom prst="rect">
            <a:avLst/>
          </a:prstGeom>
        </p:spPr>
      </p:pic>
    </p:spTree>
    <p:extLst>
      <p:ext uri="{BB962C8B-B14F-4D97-AF65-F5344CB8AC3E}">
        <p14:creationId xmlns:p14="http://schemas.microsoft.com/office/powerpoint/2010/main" val="1919959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Cài</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đặt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trình</a:t>
            </a:r>
            <a:endParaRPr kumimoji="1" lang="vi-VN" altLang="vi-VN" sz="2100" b="1" dirty="0">
              <a:solidFill>
                <a:srgbClr val="24325B"/>
              </a:solidFill>
              <a:latin typeface="Noto Sans"/>
              <a:ea typeface="Noto Sans"/>
            </a:endParaRPr>
          </a:p>
        </p:txBody>
      </p:sp>
      <p:sp>
        <p:nvSpPr>
          <p:cNvPr id="8" name="Rectangle 5">
            <a:extLst>
              <a:ext uri="{FF2B5EF4-FFF2-40B4-BE49-F238E27FC236}">
                <a16:creationId xmlns:a16="http://schemas.microsoft.com/office/drawing/2014/main" id="{2FE0B713-5DBD-73EE-A66E-52EC1D3630B3}"/>
              </a:ext>
            </a:extLst>
          </p:cNvPr>
          <p:cNvSpPr>
            <a:spLocks noChangeArrowheads="1"/>
          </p:cNvSpPr>
          <p:nvPr/>
        </p:nvSpPr>
        <p:spPr bwMode="auto">
          <a:xfrm>
            <a:off x="1130197" y="1015211"/>
            <a:ext cx="10458450" cy="463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Cài</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đặt</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hai</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giải</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thuật</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2" name="Picture 1">
            <a:extLst>
              <a:ext uri="{FF2B5EF4-FFF2-40B4-BE49-F238E27FC236}">
                <a16:creationId xmlns:a16="http://schemas.microsoft.com/office/drawing/2014/main" id="{3CB8D6B6-E936-7444-165C-2F21FC29C306}"/>
              </a:ext>
            </a:extLst>
          </p:cNvPr>
          <p:cNvPicPr>
            <a:picLocks noChangeAspect="1"/>
          </p:cNvPicPr>
          <p:nvPr/>
        </p:nvPicPr>
        <p:blipFill>
          <a:blip r:embed="rId2"/>
          <a:stretch>
            <a:fillRect/>
          </a:stretch>
        </p:blipFill>
        <p:spPr>
          <a:xfrm>
            <a:off x="555093" y="2019299"/>
            <a:ext cx="5110360" cy="2063115"/>
          </a:xfrm>
          <a:prstGeom prst="rect">
            <a:avLst/>
          </a:prstGeom>
        </p:spPr>
      </p:pic>
      <p:pic>
        <p:nvPicPr>
          <p:cNvPr id="3" name="Picture 2">
            <a:extLst>
              <a:ext uri="{FF2B5EF4-FFF2-40B4-BE49-F238E27FC236}">
                <a16:creationId xmlns:a16="http://schemas.microsoft.com/office/drawing/2014/main" id="{12CBEF97-98AF-E515-6EFA-87D970139002}"/>
              </a:ext>
            </a:extLst>
          </p:cNvPr>
          <p:cNvPicPr>
            <a:picLocks noChangeAspect="1"/>
          </p:cNvPicPr>
          <p:nvPr/>
        </p:nvPicPr>
        <p:blipFill>
          <a:blip r:embed="rId3"/>
          <a:stretch>
            <a:fillRect/>
          </a:stretch>
        </p:blipFill>
        <p:spPr>
          <a:xfrm>
            <a:off x="6032060" y="2190402"/>
            <a:ext cx="5892285" cy="2063115"/>
          </a:xfrm>
          <a:prstGeom prst="rect">
            <a:avLst/>
          </a:prstGeom>
        </p:spPr>
      </p:pic>
      <p:sp>
        <p:nvSpPr>
          <p:cNvPr id="6" name="TextBox 5">
            <a:extLst>
              <a:ext uri="{FF2B5EF4-FFF2-40B4-BE49-F238E27FC236}">
                <a16:creationId xmlns:a16="http://schemas.microsoft.com/office/drawing/2014/main" id="{413B1D30-8242-0F03-FF0C-C56BBE878300}"/>
              </a:ext>
            </a:extLst>
          </p:cNvPr>
          <p:cNvSpPr txBox="1"/>
          <p:nvPr/>
        </p:nvSpPr>
        <p:spPr>
          <a:xfrm>
            <a:off x="2096813" y="4253517"/>
            <a:ext cx="2026920" cy="369332"/>
          </a:xfrm>
          <a:prstGeom prst="rect">
            <a:avLst/>
          </a:prstGeom>
          <a:noFill/>
        </p:spPr>
        <p:txBody>
          <a:bodyPr wrap="square">
            <a:spAutoFit/>
          </a:bodyPr>
          <a:lstStyle/>
          <a:p>
            <a:r>
              <a:rPr lang="en-US" sz="1800" dirty="0" err="1">
                <a:effectLst/>
                <a:latin typeface="Noto Sans" panose="020B0502040504020204" pitchFamily="34" charset="0"/>
                <a:ea typeface="Noto Sans" panose="020B0502040504020204" pitchFamily="34" charset="0"/>
                <a:cs typeface="Noto Sans" panose="020B0502040504020204" pitchFamily="34" charset="0"/>
              </a:rPr>
              <a:t>Hàm</a:t>
            </a:r>
            <a:r>
              <a:rPr lang="en-US" sz="1800" dirty="0">
                <a:effectLst/>
                <a:latin typeface="Noto Sans" panose="020B0502040504020204" pitchFamily="34" charset="0"/>
                <a:ea typeface="Noto Sans" panose="020B0502040504020204" pitchFamily="34" charset="0"/>
                <a:cs typeface="Noto Sans" panose="020B0502040504020204" pitchFamily="34" charset="0"/>
              </a:rPr>
              <a:t> Greedy()</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Box 8">
            <a:extLst>
              <a:ext uri="{FF2B5EF4-FFF2-40B4-BE49-F238E27FC236}">
                <a16:creationId xmlns:a16="http://schemas.microsoft.com/office/drawing/2014/main" id="{02B991DF-5596-C16C-92D6-C036003BEC7E}"/>
              </a:ext>
            </a:extLst>
          </p:cNvPr>
          <p:cNvSpPr txBox="1"/>
          <p:nvPr/>
        </p:nvSpPr>
        <p:spPr>
          <a:xfrm>
            <a:off x="7745606" y="4253517"/>
            <a:ext cx="2465191" cy="369332"/>
          </a:xfrm>
          <a:prstGeom prst="rect">
            <a:avLst/>
          </a:prstGeom>
          <a:noFill/>
        </p:spPr>
        <p:txBody>
          <a:bodyPr wrap="square">
            <a:spAutoFit/>
          </a:bodyPr>
          <a:lstStyle/>
          <a:p>
            <a:r>
              <a:rPr lang="en-US" sz="1800" dirty="0" err="1">
                <a:effectLst/>
                <a:latin typeface="Noto Sans" panose="020B0502040504020204" pitchFamily="34" charset="0"/>
                <a:ea typeface="Noto Sans" panose="020B0502040504020204" pitchFamily="34" charset="0"/>
                <a:cs typeface="Noto Sans" panose="020B0502040504020204" pitchFamily="34" charset="0"/>
              </a:rPr>
              <a:t>Hàm</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welch_powell</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406288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Cài</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đặt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trình</a:t>
            </a:r>
            <a:endParaRPr kumimoji="1" lang="vi-VN" altLang="vi-VN" sz="2100" b="1" dirty="0">
              <a:solidFill>
                <a:srgbClr val="24325B"/>
              </a:solidFill>
              <a:latin typeface="Noto Sans"/>
              <a:ea typeface="Noto Sans"/>
            </a:endParaRPr>
          </a:p>
        </p:txBody>
      </p:sp>
      <p:sp>
        <p:nvSpPr>
          <p:cNvPr id="8" name="Rectangle 5">
            <a:extLst>
              <a:ext uri="{FF2B5EF4-FFF2-40B4-BE49-F238E27FC236}">
                <a16:creationId xmlns:a16="http://schemas.microsoft.com/office/drawing/2014/main" id="{2FE0B713-5DBD-73EE-A66E-52EC1D3630B3}"/>
              </a:ext>
            </a:extLst>
          </p:cNvPr>
          <p:cNvSpPr>
            <a:spLocks noChangeArrowheads="1"/>
          </p:cNvSpPr>
          <p:nvPr/>
        </p:nvSpPr>
        <p:spPr bwMode="auto">
          <a:xfrm>
            <a:off x="1130197" y="1015211"/>
            <a:ext cx="10458450" cy="463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dirty="0" err="1">
                <a:latin typeface="Noto Sans" panose="020B0502040504020204" pitchFamily="34" charset="0"/>
                <a:ea typeface="Noto Sans" panose="020B0502040504020204" pitchFamily="34" charset="0"/>
                <a:cs typeface="Noto Sans" panose="020B0502040504020204" pitchFamily="34" charset="0"/>
              </a:rPr>
              <a:t>Hàm</a:t>
            </a:r>
            <a:r>
              <a:rPr lang="en-US" dirty="0">
                <a:latin typeface="Noto Sans" panose="020B0502040504020204" pitchFamily="34" charset="0"/>
                <a:ea typeface="Noto Sans" panose="020B0502040504020204" pitchFamily="34" charset="0"/>
                <a:cs typeface="Noto Sans" panose="020B0502040504020204" pitchFamily="34" charset="0"/>
              </a:rPr>
              <a:t> draw() </a:t>
            </a:r>
            <a:r>
              <a:rPr lang="en-US" dirty="0" err="1">
                <a:latin typeface="Noto Sans" panose="020B0502040504020204" pitchFamily="34" charset="0"/>
                <a:ea typeface="Noto Sans" panose="020B0502040504020204" pitchFamily="34" charset="0"/>
                <a:cs typeface="Noto Sans" panose="020B0502040504020204" pitchFamily="34" charset="0"/>
              </a:rPr>
              <a:t>thực</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hiện</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vẽ</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đồ</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thị</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lên</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giao</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diện</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4" name="Picture 3">
            <a:extLst>
              <a:ext uri="{FF2B5EF4-FFF2-40B4-BE49-F238E27FC236}">
                <a16:creationId xmlns:a16="http://schemas.microsoft.com/office/drawing/2014/main" id="{8E8A7B49-15B3-381C-5EEE-EF1642B04AA3}"/>
              </a:ext>
            </a:extLst>
          </p:cNvPr>
          <p:cNvPicPr>
            <a:picLocks noChangeAspect="1"/>
          </p:cNvPicPr>
          <p:nvPr/>
        </p:nvPicPr>
        <p:blipFill>
          <a:blip r:embed="rId2"/>
          <a:stretch>
            <a:fillRect/>
          </a:stretch>
        </p:blipFill>
        <p:spPr>
          <a:xfrm>
            <a:off x="4270589" y="1663218"/>
            <a:ext cx="4177665" cy="5061827"/>
          </a:xfrm>
          <a:prstGeom prst="rect">
            <a:avLst/>
          </a:prstGeom>
        </p:spPr>
      </p:pic>
    </p:spTree>
    <p:extLst>
      <p:ext uri="{BB962C8B-B14F-4D97-AF65-F5344CB8AC3E}">
        <p14:creationId xmlns:p14="http://schemas.microsoft.com/office/powerpoint/2010/main" val="27517259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Cài</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đặt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trình</a:t>
            </a:r>
            <a:endParaRPr kumimoji="1" lang="vi-VN" altLang="vi-VN" sz="2100" b="1" dirty="0">
              <a:solidFill>
                <a:srgbClr val="24325B"/>
              </a:solidFill>
              <a:latin typeface="Noto Sans"/>
              <a:ea typeface="Noto Sans"/>
            </a:endParaRPr>
          </a:p>
        </p:txBody>
      </p:sp>
      <p:sp>
        <p:nvSpPr>
          <p:cNvPr id="8" name="Rectangle 5">
            <a:extLst>
              <a:ext uri="{FF2B5EF4-FFF2-40B4-BE49-F238E27FC236}">
                <a16:creationId xmlns:a16="http://schemas.microsoft.com/office/drawing/2014/main" id="{2FE0B713-5DBD-73EE-A66E-52EC1D3630B3}"/>
              </a:ext>
            </a:extLst>
          </p:cNvPr>
          <p:cNvSpPr>
            <a:spLocks noChangeArrowheads="1"/>
          </p:cNvSpPr>
          <p:nvPr/>
        </p:nvSpPr>
        <p:spPr bwMode="auto">
          <a:xfrm>
            <a:off x="1130197" y="923872"/>
            <a:ext cx="104584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err="1">
                <a:latin typeface="Noto Sans" panose="020B0502040504020204" pitchFamily="34" charset="0"/>
                <a:ea typeface="Noto Sans" panose="020B0502040504020204" pitchFamily="34" charset="0"/>
                <a:cs typeface="Noto Sans" panose="020B0502040504020204" pitchFamily="34" charset="0"/>
              </a:rPr>
              <a:t>Chương</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trình</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cho</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phép</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nhập</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dữ</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liệu</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theo</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hai</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cách</a:t>
            </a:r>
            <a:r>
              <a:rPr lang="en-US" dirty="0">
                <a:latin typeface="Noto Sans" panose="020B0502040504020204" pitchFamily="34" charset="0"/>
                <a:ea typeface="Noto Sans" panose="020B0502040504020204" pitchFamily="34" charset="0"/>
                <a:cs typeface="Noto Sans" panose="020B0502040504020204" pitchFamily="34" charset="0"/>
              </a:rPr>
              <a:t>:</a:t>
            </a:r>
          </a:p>
          <a:p>
            <a:r>
              <a:rPr lang="en-US" dirty="0" err="1">
                <a:latin typeface="Noto Sans" panose="020B0502040504020204" pitchFamily="34" charset="0"/>
                <a:ea typeface="Noto Sans" panose="020B0502040504020204" pitchFamily="34" charset="0"/>
                <a:cs typeface="Noto Sans" panose="020B0502040504020204" pitchFamily="34" charset="0"/>
              </a:rPr>
              <a:t>Nhập</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cạnh</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thủ</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công</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sp>
        <p:nvSpPr>
          <p:cNvPr id="3" name="TextBox 2">
            <a:extLst>
              <a:ext uri="{FF2B5EF4-FFF2-40B4-BE49-F238E27FC236}">
                <a16:creationId xmlns:a16="http://schemas.microsoft.com/office/drawing/2014/main" id="{EAD66826-04CF-0C30-98D5-CAAAAB35B104}"/>
              </a:ext>
            </a:extLst>
          </p:cNvPr>
          <p:cNvSpPr txBox="1"/>
          <p:nvPr/>
        </p:nvSpPr>
        <p:spPr>
          <a:xfrm>
            <a:off x="622912" y="5538282"/>
            <a:ext cx="5059680" cy="791692"/>
          </a:xfrm>
          <a:prstGeom prst="rect">
            <a:avLst/>
          </a:prstGeom>
          <a:noFill/>
        </p:spPr>
        <p:txBody>
          <a:bodyPr wrap="square">
            <a:spAutoFit/>
          </a:bodyPr>
          <a:lstStyle/>
          <a:p>
            <a:pPr lvl="0" algn="ctr">
              <a:lnSpc>
                <a:spcPct val="150000"/>
              </a:lnSpc>
              <a:spcBef>
                <a:spcPts val="600"/>
              </a:spcBef>
              <a:spcAft>
                <a:spcPts val="600"/>
              </a:spcAft>
            </a:pPr>
            <a:r>
              <a:rPr lang="en-US" sz="1600" dirty="0" err="1">
                <a:effectLst/>
                <a:latin typeface="Noto Sans" panose="020B0502040504020204" pitchFamily="34" charset="0"/>
                <a:ea typeface="Noto Sans" panose="020B0502040504020204" pitchFamily="34" charset="0"/>
                <a:cs typeface="Noto Sans" panose="020B0502040504020204" pitchFamily="34" charset="0"/>
              </a:rPr>
              <a:t>Hàm</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add_edge</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nhận</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dữ</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liệu</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từ</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hai</a:t>
            </a:r>
            <a:r>
              <a:rPr lang="en-US" sz="1600" dirty="0">
                <a:effectLst/>
                <a:latin typeface="Noto Sans" panose="020B0502040504020204" pitchFamily="34" charset="0"/>
                <a:ea typeface="Noto Sans" panose="020B0502040504020204" pitchFamily="34" charset="0"/>
                <a:cs typeface="Noto Sans" panose="020B0502040504020204" pitchFamily="34" charset="0"/>
              </a:rPr>
              <a:t> ô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nhập</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đỉnh</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cạnh</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sau</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đó</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thêm</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cạnh</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vào</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600" dirty="0">
                <a:effectLst/>
                <a:latin typeface="Noto Sans" panose="020B0502040504020204" pitchFamily="34" charset="0"/>
                <a:ea typeface="Noto Sans" panose="020B0502040504020204" pitchFamily="34" charset="0"/>
                <a:cs typeface="Noto Sans" panose="020B0502040504020204" pitchFamily="34" charset="0"/>
              </a:rPr>
              <a:t>.</a:t>
            </a:r>
          </a:p>
        </p:txBody>
      </p:sp>
      <p:pic>
        <p:nvPicPr>
          <p:cNvPr id="5" name="Picture 4">
            <a:extLst>
              <a:ext uri="{FF2B5EF4-FFF2-40B4-BE49-F238E27FC236}">
                <a16:creationId xmlns:a16="http://schemas.microsoft.com/office/drawing/2014/main" id="{197962FD-34C9-7980-7A62-EB60D4AD7CA0}"/>
              </a:ext>
            </a:extLst>
          </p:cNvPr>
          <p:cNvPicPr>
            <a:picLocks noChangeAspect="1"/>
          </p:cNvPicPr>
          <p:nvPr/>
        </p:nvPicPr>
        <p:blipFill>
          <a:blip r:embed="rId2"/>
          <a:stretch>
            <a:fillRect/>
          </a:stretch>
        </p:blipFill>
        <p:spPr>
          <a:xfrm>
            <a:off x="622912" y="1764085"/>
            <a:ext cx="4869766" cy="3329830"/>
          </a:xfrm>
          <a:prstGeom prst="rect">
            <a:avLst/>
          </a:prstGeom>
        </p:spPr>
      </p:pic>
      <p:pic>
        <p:nvPicPr>
          <p:cNvPr id="6" name="Picture 5">
            <a:extLst>
              <a:ext uri="{FF2B5EF4-FFF2-40B4-BE49-F238E27FC236}">
                <a16:creationId xmlns:a16="http://schemas.microsoft.com/office/drawing/2014/main" id="{5CA30F39-9634-051B-BDC7-48EC5B10BAE4}"/>
              </a:ext>
            </a:extLst>
          </p:cNvPr>
          <p:cNvPicPr>
            <a:picLocks noChangeAspect="1"/>
          </p:cNvPicPr>
          <p:nvPr/>
        </p:nvPicPr>
        <p:blipFill>
          <a:blip r:embed="rId3"/>
          <a:stretch>
            <a:fillRect/>
          </a:stretch>
        </p:blipFill>
        <p:spPr>
          <a:xfrm>
            <a:off x="6359422" y="1562547"/>
            <a:ext cx="5580380" cy="3975735"/>
          </a:xfrm>
          <a:prstGeom prst="rect">
            <a:avLst/>
          </a:prstGeom>
        </p:spPr>
      </p:pic>
      <p:sp>
        <p:nvSpPr>
          <p:cNvPr id="10" name="TextBox 9">
            <a:extLst>
              <a:ext uri="{FF2B5EF4-FFF2-40B4-BE49-F238E27FC236}">
                <a16:creationId xmlns:a16="http://schemas.microsoft.com/office/drawing/2014/main" id="{179B78C4-2398-534C-F15D-04A2ED470A92}"/>
              </a:ext>
            </a:extLst>
          </p:cNvPr>
          <p:cNvSpPr txBox="1"/>
          <p:nvPr/>
        </p:nvSpPr>
        <p:spPr>
          <a:xfrm>
            <a:off x="6619772" y="5538282"/>
            <a:ext cx="5059680" cy="791692"/>
          </a:xfrm>
          <a:prstGeom prst="rect">
            <a:avLst/>
          </a:prstGeom>
          <a:noFill/>
        </p:spPr>
        <p:txBody>
          <a:bodyPr wrap="square">
            <a:spAutoFit/>
          </a:bodyPr>
          <a:lstStyle/>
          <a:p>
            <a:pPr lvl="0" algn="ctr">
              <a:lnSpc>
                <a:spcPct val="150000"/>
              </a:lnSpc>
              <a:spcBef>
                <a:spcPts val="600"/>
              </a:spcBef>
              <a:spcAft>
                <a:spcPts val="600"/>
              </a:spcAft>
            </a:pPr>
            <a:r>
              <a:rPr lang="en-US" sz="1600" dirty="0" err="1">
                <a:effectLst/>
                <a:latin typeface="Noto Sans" panose="020B0502040504020204" pitchFamily="34" charset="0"/>
                <a:ea typeface="Noto Sans" panose="020B0502040504020204" pitchFamily="34" charset="0"/>
                <a:cs typeface="Noto Sans" panose="020B0502040504020204" pitchFamily="34" charset="0"/>
              </a:rPr>
              <a:t>Hàm</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add_matrix</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đọc</a:t>
            </a:r>
            <a:r>
              <a:rPr lang="en-US" sz="1600" dirty="0">
                <a:effectLst/>
                <a:latin typeface="Noto Sans" panose="020B0502040504020204" pitchFamily="34" charset="0"/>
                <a:ea typeface="Noto Sans" panose="020B0502040504020204" pitchFamily="34" charset="0"/>
                <a:cs typeface="Noto Sans" panose="020B0502040504020204" pitchFamily="34" charset="0"/>
              </a:rPr>
              <a:t> ma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trận</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từ</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khung</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nhập</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liệu</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kiểm</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tra</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hợp</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lệ</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rồi</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tạo</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tương</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ứng</a:t>
            </a:r>
            <a:r>
              <a:rPr lang="en-US" sz="1600" dirty="0">
                <a:effectLst/>
                <a:latin typeface="Noto Sans" panose="020B0502040504020204" pitchFamily="34" charset="0"/>
                <a:ea typeface="Noto Sans" panose="020B0502040504020204" pitchFamily="34" charset="0"/>
                <a:cs typeface="Noto Sans" panose="020B0502040504020204" pitchFamily="34" charset="0"/>
              </a:rPr>
              <a:t>.</a:t>
            </a:r>
          </a:p>
        </p:txBody>
      </p:sp>
    </p:spTree>
    <p:extLst>
      <p:ext uri="{BB962C8B-B14F-4D97-AF65-F5344CB8AC3E}">
        <p14:creationId xmlns:p14="http://schemas.microsoft.com/office/powerpoint/2010/main" val="36441750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Cài</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đặt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trình</a:t>
            </a:r>
            <a:endParaRPr kumimoji="1" lang="vi-VN" altLang="vi-VN" sz="2100" b="1" dirty="0">
              <a:solidFill>
                <a:srgbClr val="24325B"/>
              </a:solidFill>
              <a:latin typeface="Noto Sans"/>
              <a:ea typeface="Noto Sans"/>
            </a:endParaRPr>
          </a:p>
        </p:txBody>
      </p:sp>
      <p:pic>
        <p:nvPicPr>
          <p:cNvPr id="4" name="Picture 3">
            <a:extLst>
              <a:ext uri="{FF2B5EF4-FFF2-40B4-BE49-F238E27FC236}">
                <a16:creationId xmlns:a16="http://schemas.microsoft.com/office/drawing/2014/main" id="{F50409F2-F2AA-7C7B-75CB-95FC7BA0A3DC}"/>
              </a:ext>
            </a:extLst>
          </p:cNvPr>
          <p:cNvPicPr>
            <a:picLocks noChangeAspect="1"/>
          </p:cNvPicPr>
          <p:nvPr/>
        </p:nvPicPr>
        <p:blipFill>
          <a:blip r:embed="rId2"/>
          <a:stretch>
            <a:fillRect/>
          </a:stretch>
        </p:blipFill>
        <p:spPr>
          <a:xfrm>
            <a:off x="1562082" y="3429000"/>
            <a:ext cx="4293326" cy="2651760"/>
          </a:xfrm>
          <a:prstGeom prst="rect">
            <a:avLst/>
          </a:prstGeom>
        </p:spPr>
      </p:pic>
      <p:sp>
        <p:nvSpPr>
          <p:cNvPr id="11" name="TextBox 10">
            <a:extLst>
              <a:ext uri="{FF2B5EF4-FFF2-40B4-BE49-F238E27FC236}">
                <a16:creationId xmlns:a16="http://schemas.microsoft.com/office/drawing/2014/main" id="{D18EA17D-6840-79F7-97AE-B1EEBDE76497}"/>
              </a:ext>
            </a:extLst>
          </p:cNvPr>
          <p:cNvSpPr txBox="1"/>
          <p:nvPr/>
        </p:nvSpPr>
        <p:spPr>
          <a:xfrm>
            <a:off x="1130197" y="992826"/>
            <a:ext cx="7254240" cy="2171748"/>
          </a:xfrm>
          <a:prstGeom prst="rect">
            <a:avLst/>
          </a:prstGeom>
          <a:noFill/>
        </p:spPr>
        <p:txBody>
          <a:bodyPr wrap="square">
            <a:spAutoFit/>
          </a:bodyPr>
          <a:lstStyle/>
          <a:p>
            <a:pPr indent="136525" algn="just">
              <a:lnSpc>
                <a:spcPct val="150000"/>
              </a:lnSpc>
              <a:spcBef>
                <a:spcPts val="600"/>
              </a:spcBef>
              <a:spcAft>
                <a:spcPts val="600"/>
              </a:spcAft>
            </a:pPr>
            <a:r>
              <a:rPr lang="en-US" sz="1800" b="1" dirty="0" err="1">
                <a:effectLst/>
                <a:latin typeface="Noto Sans" panose="020B0502040504020204" pitchFamily="34" charset="0"/>
                <a:ea typeface="Noto Sans" panose="020B0502040504020204" pitchFamily="34" charset="0"/>
                <a:cs typeface="Noto Sans" panose="020B0502040504020204" pitchFamily="34" charset="0"/>
              </a:rPr>
              <a:t>Điều</a:t>
            </a:r>
            <a:r>
              <a:rPr lang="en-US" sz="1800" b="1" dirty="0">
                <a:effectLst/>
                <a:latin typeface="Noto Sans" panose="020B0502040504020204" pitchFamily="34" charset="0"/>
                <a:ea typeface="Noto Sans" panose="020B0502040504020204" pitchFamily="34" charset="0"/>
                <a:cs typeface="Noto Sans" panose="020B0502040504020204" pitchFamily="34" charset="0"/>
              </a:rPr>
              <a:t> </a:t>
            </a:r>
            <a:r>
              <a:rPr lang="en-US" sz="1800" b="1" dirty="0" err="1">
                <a:effectLst/>
                <a:latin typeface="Noto Sans" panose="020B0502040504020204" pitchFamily="34" charset="0"/>
                <a:ea typeface="Noto Sans" panose="020B0502040504020204" pitchFamily="34" charset="0"/>
                <a:cs typeface="Noto Sans" panose="020B0502040504020204" pitchFamily="34" charset="0"/>
              </a:rPr>
              <a:t>khiển</a:t>
            </a:r>
            <a:r>
              <a:rPr lang="en-US" sz="1800" b="1" dirty="0">
                <a:effectLst/>
                <a:latin typeface="Noto Sans" panose="020B0502040504020204" pitchFamily="34" charset="0"/>
                <a:ea typeface="Noto Sans" panose="020B0502040504020204" pitchFamily="34" charset="0"/>
                <a:cs typeface="Noto Sans" panose="020B0502040504020204" pitchFamily="34" charset="0"/>
              </a:rPr>
              <a:t> </a:t>
            </a:r>
            <a:r>
              <a:rPr lang="en-US" sz="1800" b="1" dirty="0" err="1">
                <a:effectLst/>
                <a:latin typeface="Noto Sans" panose="020B0502040504020204" pitchFamily="34" charset="0"/>
                <a:ea typeface="Noto Sans" panose="020B0502040504020204" pitchFamily="34" charset="0"/>
                <a:cs typeface="Noto Sans" panose="020B0502040504020204" pitchFamily="34" charset="0"/>
              </a:rPr>
              <a:t>thuật</a:t>
            </a:r>
            <a:r>
              <a:rPr lang="en-US" sz="1800" b="1" dirty="0">
                <a:effectLst/>
                <a:latin typeface="Noto Sans" panose="020B0502040504020204" pitchFamily="34" charset="0"/>
                <a:ea typeface="Noto Sans" panose="020B0502040504020204" pitchFamily="34" charset="0"/>
                <a:cs typeface="Noto Sans" panose="020B0502040504020204" pitchFamily="34" charset="0"/>
              </a:rPr>
              <a:t> </a:t>
            </a:r>
            <a:r>
              <a:rPr lang="en-US" sz="1800" b="1" dirty="0" err="1">
                <a:effectLst/>
                <a:latin typeface="Noto Sans" panose="020B0502040504020204" pitchFamily="34" charset="0"/>
                <a:ea typeface="Noto Sans" panose="020B0502040504020204" pitchFamily="34" charset="0"/>
                <a:cs typeface="Noto Sans" panose="020B0502040504020204" pitchFamily="34" charset="0"/>
              </a:rPr>
              <a:t>toán</a:t>
            </a:r>
            <a:endParaRPr lang="en-US" sz="1600" b="1"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lnSpc>
                <a:spcPct val="150000"/>
              </a:lnSpc>
              <a:spcBef>
                <a:spcPts val="600"/>
              </a:spcBef>
              <a:spcAft>
                <a:spcPts val="600"/>
              </a:spcAft>
              <a:buFont typeface="Symbol" panose="05050102010706020507" pitchFamily="18" charset="2"/>
              <a:buChar char=""/>
            </a:pPr>
            <a:r>
              <a:rPr lang="en-US" sz="1800" dirty="0" err="1">
                <a:effectLst/>
                <a:latin typeface="Noto Sans" panose="020B0502040504020204" pitchFamily="34" charset="0"/>
                <a:ea typeface="Noto Sans" panose="020B0502040504020204" pitchFamily="34" charset="0"/>
                <a:cs typeface="Noto Sans" panose="020B0502040504020204" pitchFamily="34" charset="0"/>
              </a:rPr>
              <a:t>run_greedy</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gọi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giải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thuật</a:t>
            </a:r>
            <a:r>
              <a:rPr lang="en-US" sz="1800" dirty="0">
                <a:effectLst/>
                <a:latin typeface="Noto Sans" panose="020B0502040504020204" pitchFamily="34" charset="0"/>
                <a:ea typeface="Noto Sans" panose="020B0502040504020204" pitchFamily="34" charset="0"/>
                <a:cs typeface="Noto Sans" panose="020B0502040504020204" pitchFamily="34" charset="0"/>
              </a:rPr>
              <a:t> Greedy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vẽ</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kết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quả</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lnSpc>
                <a:spcPct val="150000"/>
              </a:lnSpc>
              <a:spcBef>
                <a:spcPts val="600"/>
              </a:spcBef>
              <a:spcAft>
                <a:spcPts val="600"/>
              </a:spcAft>
              <a:buFont typeface="Symbol" panose="05050102010706020507" pitchFamily="18" charset="2"/>
              <a:buChar char=""/>
            </a:pPr>
            <a:r>
              <a:rPr lang="en-US" sz="1800" dirty="0" err="1">
                <a:effectLst/>
                <a:latin typeface="Noto Sans" panose="020B0502040504020204" pitchFamily="34" charset="0"/>
                <a:ea typeface="Noto Sans" panose="020B0502040504020204" pitchFamily="34" charset="0"/>
                <a:cs typeface="Noto Sans" panose="020B0502040504020204" pitchFamily="34" charset="0"/>
              </a:rPr>
              <a:t>run_welch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gọi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giải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thuật</a:t>
            </a:r>
            <a:r>
              <a:rPr lang="en-US" sz="1800" dirty="0">
                <a:effectLst/>
                <a:latin typeface="Noto Sans" panose="020B0502040504020204" pitchFamily="34" charset="0"/>
                <a:ea typeface="Noto Sans" panose="020B0502040504020204" pitchFamily="34" charset="0"/>
                <a:cs typeface="Noto Sans" panose="020B0502040504020204" pitchFamily="34" charset="0"/>
              </a:rPr>
              <a:t> Welsh–Powell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vẽ</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kết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quả</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lnSpc>
                <a:spcPct val="150000"/>
              </a:lnSpc>
              <a:spcBef>
                <a:spcPts val="600"/>
              </a:spcBef>
              <a:spcAft>
                <a:spcPts val="600"/>
              </a:spcAft>
              <a:buFont typeface="Symbol" panose="05050102010706020507" pitchFamily="18" charset="2"/>
              <a:buChar char=""/>
            </a:pPr>
            <a:r>
              <a:rPr lang="en-US" sz="1800" dirty="0">
                <a:effectLst/>
                <a:latin typeface="Noto Sans" panose="020B0502040504020204" pitchFamily="34" charset="0"/>
                <a:ea typeface="Noto Sans" panose="020B0502040504020204" pitchFamily="34" charset="0"/>
                <a:cs typeface="Noto Sans" panose="020B0502040504020204" pitchFamily="34" charset="0"/>
              </a:rPr>
              <a:t>reset():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xóa</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toàn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bộ</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dữ</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liệu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làm</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mới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giao</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diện</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12" name="Picture 11">
            <a:extLst>
              <a:ext uri="{FF2B5EF4-FFF2-40B4-BE49-F238E27FC236}">
                <a16:creationId xmlns:a16="http://schemas.microsoft.com/office/drawing/2014/main" id="{58F012E8-3601-FE40-AA2B-FB9A1A32AD9B}"/>
              </a:ext>
            </a:extLst>
          </p:cNvPr>
          <p:cNvPicPr>
            <a:picLocks noChangeAspect="1"/>
          </p:cNvPicPr>
          <p:nvPr/>
        </p:nvPicPr>
        <p:blipFill>
          <a:blip r:embed="rId3"/>
          <a:stretch>
            <a:fillRect/>
          </a:stretch>
        </p:blipFill>
        <p:spPr>
          <a:xfrm>
            <a:off x="5855408" y="3617404"/>
            <a:ext cx="5687378" cy="2274951"/>
          </a:xfrm>
          <a:prstGeom prst="rect">
            <a:avLst/>
          </a:prstGeom>
        </p:spPr>
      </p:pic>
    </p:spTree>
    <p:extLst>
      <p:ext uri="{BB962C8B-B14F-4D97-AF65-F5344CB8AC3E}">
        <p14:creationId xmlns:p14="http://schemas.microsoft.com/office/powerpoint/2010/main" val="10642397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85000" lnSpcReduction="10000"/>
          </a:bodyPr>
          <a:lstStyle/>
          <a:p>
            <a:pPr algn="dist"/>
            <a:r>
              <a:rPr kumimoji="1" lang="en-US" altLang="vi-VN" sz="5400" b="1" dirty="0">
                <a:solidFill>
                  <a:schemeClr val="tx1">
                    <a:lumMod val="75000"/>
                    <a:lumOff val="25000"/>
                  </a:schemeClr>
                </a:solidFill>
                <a:latin typeface="Noto Sans"/>
                <a:ea typeface="Noto Sans"/>
              </a:rPr>
              <a:t>KẾT QUẢ THỰC NGHIỆM</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5</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245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Kết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quả</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thực</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nghiệm</a:t>
            </a:r>
            <a:endParaRPr kumimoji="1" lang="vi-VN" altLang="vi-VN" sz="2100" b="1" dirty="0">
              <a:solidFill>
                <a:srgbClr val="24325B"/>
              </a:solidFill>
              <a:latin typeface="Noto Sans"/>
              <a:ea typeface="Noto Sans"/>
            </a:endParaRPr>
          </a:p>
        </p:txBody>
      </p:sp>
      <p:pic>
        <p:nvPicPr>
          <p:cNvPr id="3" name="Picture 2">
            <a:extLst>
              <a:ext uri="{FF2B5EF4-FFF2-40B4-BE49-F238E27FC236}">
                <a16:creationId xmlns:a16="http://schemas.microsoft.com/office/drawing/2014/main" id="{88520BA2-66E9-38DF-190D-DB048C239386}"/>
              </a:ext>
            </a:extLst>
          </p:cNvPr>
          <p:cNvPicPr>
            <a:picLocks noChangeAspect="1"/>
          </p:cNvPicPr>
          <p:nvPr/>
        </p:nvPicPr>
        <p:blipFill>
          <a:blip r:embed="rId2"/>
          <a:stretch>
            <a:fillRect/>
          </a:stretch>
        </p:blipFill>
        <p:spPr>
          <a:xfrm>
            <a:off x="1918853" y="1738799"/>
            <a:ext cx="8354294" cy="4848996"/>
          </a:xfrm>
          <a:prstGeom prst="rect">
            <a:avLst/>
          </a:prstGeom>
        </p:spPr>
      </p:pic>
      <p:sp>
        <p:nvSpPr>
          <p:cNvPr id="8" name="TextBox 7">
            <a:extLst>
              <a:ext uri="{FF2B5EF4-FFF2-40B4-BE49-F238E27FC236}">
                <a16:creationId xmlns:a16="http://schemas.microsoft.com/office/drawing/2014/main" id="{81151C2B-F663-785D-D497-E9FF64324CFA}"/>
              </a:ext>
            </a:extLst>
          </p:cNvPr>
          <p:cNvSpPr txBox="1"/>
          <p:nvPr/>
        </p:nvSpPr>
        <p:spPr>
          <a:xfrm>
            <a:off x="1130197" y="874053"/>
            <a:ext cx="7254240" cy="587277"/>
          </a:xfrm>
          <a:prstGeom prst="rect">
            <a:avLst/>
          </a:prstGeom>
          <a:noFill/>
        </p:spPr>
        <p:txBody>
          <a:bodyPr wrap="square">
            <a:spAutoFit/>
          </a:bodyPr>
          <a:lstStyle/>
          <a:p>
            <a:pPr indent="136525" algn="just">
              <a:lnSpc>
                <a:spcPct val="150000"/>
              </a:lnSpc>
              <a:spcBef>
                <a:spcPts val="600"/>
              </a:spcBef>
              <a:spcAft>
                <a:spcPts val="600"/>
              </a:spcAft>
            </a:pPr>
            <a:r>
              <a:rPr lang="en-US" sz="2400" dirty="0">
                <a:effectLst/>
                <a:latin typeface="Noto Sans" panose="020B0502040504020204" pitchFamily="34" charset="0"/>
                <a:ea typeface="Noto Sans" panose="020B0502040504020204" pitchFamily="34" charset="0"/>
                <a:cs typeface="Noto Sans" panose="020B0502040504020204" pitchFamily="34" charset="0"/>
              </a:rPr>
              <a:t>Giao </a:t>
            </a:r>
            <a:r>
              <a:rPr lang="en-US" sz="2400" dirty="0" err="1">
                <a:effectLst/>
                <a:latin typeface="Noto Sans" panose="020B0502040504020204" pitchFamily="34" charset="0"/>
                <a:ea typeface="Noto Sans" panose="020B0502040504020204" pitchFamily="34" charset="0"/>
                <a:cs typeface="Noto Sans" panose="020B0502040504020204" pitchFamily="34" charset="0"/>
              </a:rPr>
              <a:t>diện</a:t>
            </a:r>
            <a:r>
              <a:rPr lang="en-US" sz="2400" dirty="0">
                <a:effectLst/>
                <a:latin typeface="Noto Sans" panose="020B0502040504020204" pitchFamily="34" charset="0"/>
                <a:ea typeface="Noto Sans" panose="020B0502040504020204" pitchFamily="34" charset="0"/>
                <a:cs typeface="Noto Sans" panose="020B0502040504020204" pitchFamily="34" charset="0"/>
              </a:rPr>
              <a:t> </a:t>
            </a:r>
            <a:r>
              <a:rPr lang="en-US" sz="2400" dirty="0" err="1">
                <a:effectLst/>
                <a:latin typeface="Noto Sans" panose="020B0502040504020204" pitchFamily="34" charset="0"/>
                <a:ea typeface="Noto Sans" panose="020B0502040504020204" pitchFamily="34" charset="0"/>
                <a:cs typeface="Noto Sans" panose="020B0502040504020204" pitchFamily="34" charset="0"/>
              </a:rPr>
              <a:t>chính</a:t>
            </a:r>
            <a:endParaRPr lang="en-US" sz="2400" dirty="0">
              <a:effectLst/>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Kết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quả</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thực</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nghiệm</a:t>
            </a:r>
            <a:endParaRPr kumimoji="1" lang="vi-VN" altLang="vi-VN" sz="2100" b="1" dirty="0">
              <a:solidFill>
                <a:srgbClr val="24325B"/>
              </a:solidFill>
              <a:latin typeface="Noto Sans"/>
              <a:ea typeface="Noto Sans"/>
            </a:endParaRPr>
          </a:p>
        </p:txBody>
      </p:sp>
      <p:sp>
        <p:nvSpPr>
          <p:cNvPr id="8" name="TextBox 7">
            <a:extLst>
              <a:ext uri="{FF2B5EF4-FFF2-40B4-BE49-F238E27FC236}">
                <a16:creationId xmlns:a16="http://schemas.microsoft.com/office/drawing/2014/main" id="{81151C2B-F663-785D-D497-E9FF64324CFA}"/>
              </a:ext>
            </a:extLst>
          </p:cNvPr>
          <p:cNvSpPr txBox="1"/>
          <p:nvPr/>
        </p:nvSpPr>
        <p:spPr>
          <a:xfrm>
            <a:off x="1130197" y="874053"/>
            <a:ext cx="7254240" cy="1735924"/>
          </a:xfrm>
          <a:prstGeom prst="rect">
            <a:avLst/>
          </a:prstGeom>
          <a:noFill/>
        </p:spPr>
        <p:txBody>
          <a:bodyPr wrap="square">
            <a:spAutoFit/>
          </a:bodyPr>
          <a:lstStyle/>
          <a:p>
            <a:pPr indent="136525" algn="just">
              <a:lnSpc>
                <a:spcPct val="150000"/>
              </a:lnSpc>
              <a:spcBef>
                <a:spcPts val="600"/>
              </a:spcBef>
              <a:spcAft>
                <a:spcPts val="600"/>
              </a:spcAft>
            </a:pPr>
            <a:r>
              <a:rPr lang="en-US" sz="2000" dirty="0">
                <a:effectLst/>
                <a:latin typeface="Noto Sans" panose="020B0502040504020204" pitchFamily="34" charset="0"/>
                <a:ea typeface="Noto Sans" panose="020B0502040504020204" pitchFamily="34" charset="0"/>
                <a:cs typeface="Noto Sans" panose="020B0502040504020204" pitchFamily="34" charset="0"/>
              </a:rPr>
              <a:t>Giao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diện</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endParaRPr lang="en-US" sz="2000" dirty="0">
              <a:latin typeface="Noto Sans" panose="020B0502040504020204" pitchFamily="34" charset="0"/>
              <a:ea typeface="Noto Sans" panose="020B0502040504020204" pitchFamily="34" charset="0"/>
              <a:cs typeface="Noto Sans" panose="020B0502040504020204" pitchFamily="34" charset="0"/>
            </a:endParaRPr>
          </a:p>
          <a:p>
            <a:pPr marL="800100" lvl="1" indent="-342900" algn="just">
              <a:lnSpc>
                <a:spcPct val="150000"/>
              </a:lnSpc>
              <a:spcBef>
                <a:spcPts val="600"/>
              </a:spcBef>
              <a:spcAft>
                <a:spcPts val="600"/>
              </a:spcAft>
              <a:buFont typeface="Courier New" panose="02070309020205020404" pitchFamily="49" charset="0"/>
              <a:buChar char="o"/>
            </a:pPr>
            <a:r>
              <a:rPr lang="en-US" sz="2000" dirty="0" err="1">
                <a:latin typeface="Noto Sans" panose="020B0502040504020204" pitchFamily="34" charset="0"/>
                <a:ea typeface="Noto Sans" panose="020B0502040504020204" pitchFamily="34" charset="0"/>
                <a:cs typeface="Noto Sans" panose="020B0502040504020204" pitchFamily="34" charset="0"/>
              </a:rPr>
              <a:t>Nhập</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đỉnh</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và</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cạnh</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thủ</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công</a:t>
            </a:r>
            <a:endParaRPr lang="en-US" sz="2000" dirty="0">
              <a:latin typeface="Noto Sans" panose="020B0502040504020204" pitchFamily="34" charset="0"/>
              <a:ea typeface="Noto Sans" panose="020B0502040504020204" pitchFamily="34" charset="0"/>
              <a:cs typeface="Noto Sans" panose="020B0502040504020204" pitchFamily="34" charset="0"/>
            </a:endParaRPr>
          </a:p>
          <a:p>
            <a:pPr marL="800100" lvl="1" indent="-342900" algn="just">
              <a:lnSpc>
                <a:spcPct val="150000"/>
              </a:lnSpc>
              <a:spcBef>
                <a:spcPts val="600"/>
              </a:spcBef>
              <a:spcAft>
                <a:spcPts val="600"/>
              </a:spcAft>
              <a:buFont typeface="Courier New" panose="02070309020205020404" pitchFamily="49" charset="0"/>
              <a:buChar char="o"/>
            </a:pPr>
            <a:r>
              <a:rPr lang="en-US" sz="2000" dirty="0" err="1">
                <a:effectLst/>
                <a:latin typeface="Noto Sans" panose="020B0502040504020204" pitchFamily="34" charset="0"/>
                <a:ea typeface="Noto Sans" panose="020B0502040504020204" pitchFamily="34" charset="0"/>
                <a:cs typeface="Noto Sans" panose="020B0502040504020204" pitchFamily="34" charset="0"/>
              </a:rPr>
              <a:t>Nhậ</a:t>
            </a:r>
            <a:r>
              <a:rPr lang="en-US" sz="2000" dirty="0" err="1">
                <a:latin typeface="Noto Sans" panose="020B0502040504020204" pitchFamily="34" charset="0"/>
                <a:ea typeface="Noto Sans" panose="020B0502040504020204" pitchFamily="34" charset="0"/>
                <a:cs typeface="Noto Sans" panose="020B0502040504020204" pitchFamily="34" charset="0"/>
              </a:rPr>
              <a:t>p</a:t>
            </a:r>
            <a:r>
              <a:rPr lang="en-US" sz="2000" dirty="0">
                <a:latin typeface="Noto Sans" panose="020B0502040504020204" pitchFamily="34" charset="0"/>
                <a:ea typeface="Noto Sans" panose="020B0502040504020204" pitchFamily="34" charset="0"/>
                <a:cs typeface="Noto Sans" panose="020B0502040504020204" pitchFamily="34" charset="0"/>
              </a:rPr>
              <a:t> ma </a:t>
            </a:r>
            <a:r>
              <a:rPr lang="en-US" sz="2000" dirty="0" err="1">
                <a:latin typeface="Noto Sans" panose="020B0502040504020204" pitchFamily="34" charset="0"/>
                <a:ea typeface="Noto Sans" panose="020B0502040504020204" pitchFamily="34" charset="0"/>
                <a:cs typeface="Noto Sans" panose="020B0502040504020204" pitchFamily="34" charset="0"/>
              </a:rPr>
              <a:t>trận</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kề</a:t>
            </a:r>
            <a:endParaRPr lang="en-US" sz="2000" dirty="0">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9" name="Picture 8">
            <a:extLst>
              <a:ext uri="{FF2B5EF4-FFF2-40B4-BE49-F238E27FC236}">
                <a16:creationId xmlns:a16="http://schemas.microsoft.com/office/drawing/2014/main" id="{5FCE9F82-7D40-A6F0-1802-F3A3DF5113F9}"/>
              </a:ext>
            </a:extLst>
          </p:cNvPr>
          <p:cNvPicPr>
            <a:picLocks noChangeAspect="1"/>
          </p:cNvPicPr>
          <p:nvPr/>
        </p:nvPicPr>
        <p:blipFill>
          <a:blip r:embed="rId2"/>
          <a:stretch>
            <a:fillRect/>
          </a:stretch>
        </p:blipFill>
        <p:spPr>
          <a:xfrm>
            <a:off x="634714" y="3108960"/>
            <a:ext cx="5308886" cy="1498980"/>
          </a:xfrm>
          <a:prstGeom prst="rect">
            <a:avLst/>
          </a:prstGeom>
        </p:spPr>
      </p:pic>
      <p:pic>
        <p:nvPicPr>
          <p:cNvPr id="11" name="Picture 10">
            <a:extLst>
              <a:ext uri="{FF2B5EF4-FFF2-40B4-BE49-F238E27FC236}">
                <a16:creationId xmlns:a16="http://schemas.microsoft.com/office/drawing/2014/main" id="{4EA80196-6C8B-0B8F-0AD7-9F95C22AEFBF}"/>
              </a:ext>
            </a:extLst>
          </p:cNvPr>
          <p:cNvPicPr>
            <a:picLocks noChangeAspect="1"/>
          </p:cNvPicPr>
          <p:nvPr/>
        </p:nvPicPr>
        <p:blipFill>
          <a:blip r:embed="rId3"/>
          <a:stretch>
            <a:fillRect/>
          </a:stretch>
        </p:blipFill>
        <p:spPr>
          <a:xfrm>
            <a:off x="7437742" y="3108960"/>
            <a:ext cx="3702697" cy="3019824"/>
          </a:xfrm>
          <a:prstGeom prst="rect">
            <a:avLst/>
          </a:prstGeom>
        </p:spPr>
      </p:pic>
    </p:spTree>
    <p:extLst>
      <p:ext uri="{BB962C8B-B14F-4D97-AF65-F5344CB8AC3E}">
        <p14:creationId xmlns:p14="http://schemas.microsoft.com/office/powerpoint/2010/main" val="14409916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62500" lnSpcReduction="20000"/>
          </a:bodyPr>
          <a:lstStyle/>
          <a:p>
            <a:pPr algn="dist"/>
            <a:r>
              <a:rPr kumimoji="1" lang="en-US" altLang="vi-VN" sz="5400" b="1" dirty="0">
                <a:solidFill>
                  <a:schemeClr val="tx1">
                    <a:lumMod val="75000"/>
                    <a:lumOff val="25000"/>
                  </a:schemeClr>
                </a:solidFill>
                <a:latin typeface="Noto Sans"/>
                <a:ea typeface="Noto Sans"/>
              </a:rPr>
              <a:t>KẾT LUẬN &amp; HƯỚNG PHÁT TRIỂN</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6</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317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Kết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luận</a:t>
            </a:r>
            <a:r>
              <a:rPr kumimoji="1" lang="en-US" altLang="vi-VN" sz="2100" b="1" dirty="0">
                <a:solidFill>
                  <a:srgbClr val="24325B"/>
                </a:solidFill>
                <a:latin typeface="Noto Sans"/>
                <a:ea typeface="Noto Sans"/>
              </a:rPr>
              <a:t> &amp; </a:t>
            </a:r>
            <a:r>
              <a:rPr kumimoji="1" lang="en-US" altLang="vi-VN" sz="2100" b="1" dirty="0" err="1">
                <a:solidFill>
                  <a:srgbClr val="24325B"/>
                </a:solidFill>
                <a:latin typeface="Noto Sans"/>
                <a:ea typeface="Noto Sans"/>
              </a:rPr>
              <a:t>hướng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phát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triển</a:t>
            </a:r>
            <a:endParaRPr kumimoji="1" lang="vi-VN" altLang="vi-VN" sz="2100" b="1" dirty="0">
              <a:solidFill>
                <a:srgbClr val="24325B"/>
              </a:solidFill>
              <a:latin typeface="Noto Sans"/>
              <a:ea typeface="Noto Sans"/>
            </a:endParaRPr>
          </a:p>
        </p:txBody>
      </p:sp>
      <p:sp>
        <p:nvSpPr>
          <p:cNvPr id="8" name="TextBox 7">
            <a:extLst>
              <a:ext uri="{FF2B5EF4-FFF2-40B4-BE49-F238E27FC236}">
                <a16:creationId xmlns:a16="http://schemas.microsoft.com/office/drawing/2014/main" id="{9A01DAD6-A3CB-5169-939A-586424421297}"/>
              </a:ext>
            </a:extLst>
          </p:cNvPr>
          <p:cNvSpPr txBox="1"/>
          <p:nvPr/>
        </p:nvSpPr>
        <p:spPr>
          <a:xfrm>
            <a:off x="640080" y="1038195"/>
            <a:ext cx="11292840" cy="5278368"/>
          </a:xfrm>
          <a:prstGeom prst="rect">
            <a:avLst/>
          </a:prstGeom>
          <a:noFill/>
        </p:spPr>
        <p:txBody>
          <a:bodyPr wrap="square">
            <a:spAutoFit/>
          </a:bodyPr>
          <a:lstStyle/>
          <a:p>
            <a:pPr>
              <a:lnSpc>
                <a:spcPct val="150000"/>
              </a:lnSpc>
            </a:pPr>
            <a:r>
              <a:rPr lang="en-US" b="1" dirty="0">
                <a:latin typeface="Noto Sans" panose="020B0502040504020204" pitchFamily="34" charset="0"/>
                <a:ea typeface="Noto Sans" panose="020B0502040504020204" pitchFamily="34" charset="0"/>
                <a:cs typeface="Noto Sans" panose="020B0502040504020204" pitchFamily="34" charset="0"/>
              </a:rPr>
              <a:t>KẾT LUẬN:</a:t>
            </a:r>
          </a:p>
          <a:p>
            <a:pPr marL="342900" lvl="0" indent="-342900" algn="just">
              <a:spcBef>
                <a:spcPts val="600"/>
              </a:spcBef>
              <a:spcAft>
                <a:spcPts val="600"/>
              </a:spcAft>
              <a:buFont typeface="Symbol" panose="05050102010706020507" pitchFamily="18" charset="2"/>
              <a:buChar char=""/>
              <a:tabLst>
                <a:tab pos="685800" algn="l"/>
              </a:tabLst>
            </a:pPr>
            <a:r>
              <a:rPr lang="en-US" sz="1800" dirty="0" err="1">
                <a:effectLst/>
                <a:latin typeface="Noto Sans" panose="020B0502040504020204" pitchFamily="34" charset="0"/>
                <a:ea typeface="Noto Sans" panose="020B0502040504020204" pitchFamily="34" charset="0"/>
                <a:cs typeface="Noto Sans" panose="020B0502040504020204" pitchFamily="34" charset="0"/>
              </a:rPr>
              <a:t>Xây</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dựng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thành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công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chương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trình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mô</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phỏng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tô</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màu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bằng</a:t>
            </a:r>
            <a:r>
              <a:rPr lang="en-US" sz="1800" dirty="0">
                <a:effectLst/>
                <a:latin typeface="Noto Sans" panose="020B0502040504020204" pitchFamily="34" charset="0"/>
                <a:ea typeface="Noto Sans" panose="020B0502040504020204" pitchFamily="34" charset="0"/>
                <a:cs typeface="Noto Sans" panose="020B0502040504020204" pitchFamily="34" charset="0"/>
              </a:rPr>
              <a:t> Python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với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giao</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diện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trực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quan</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spcBef>
                <a:spcPts val="600"/>
              </a:spcBef>
              <a:spcAft>
                <a:spcPts val="600"/>
              </a:spcAft>
              <a:buFont typeface="Symbol" panose="05050102010706020507" pitchFamily="18" charset="2"/>
              <a:buChar char=""/>
              <a:tabLst>
                <a:tab pos="685800" algn="l"/>
              </a:tabLst>
            </a:pPr>
            <a:r>
              <a:rPr lang="en-US" sz="1800" dirty="0" err="1">
                <a:effectLst/>
                <a:latin typeface="Noto Sans" panose="020B0502040504020204" pitchFamily="34" charset="0"/>
                <a:ea typeface="Noto Sans" panose="020B0502040504020204" pitchFamily="34" charset="0"/>
                <a:cs typeface="Noto Sans" panose="020B0502040504020204" pitchFamily="34" charset="0"/>
              </a:rPr>
              <a:t>Chương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trình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cho</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phép</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nhập</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linh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hoạt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bằng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cách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thêm</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đỉnh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cạnh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hoặc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nhập</a:t>
            </a:r>
            <a:r>
              <a:rPr lang="en-US" sz="1800" dirty="0">
                <a:effectLst/>
                <a:latin typeface="Noto Sans" panose="020B0502040504020204" pitchFamily="34" charset="0"/>
                <a:ea typeface="Noto Sans" panose="020B0502040504020204" pitchFamily="34" charset="0"/>
                <a:cs typeface="Noto Sans" panose="020B0502040504020204" pitchFamily="34" charset="0"/>
              </a:rPr>
              <a:t> ma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trận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kề</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spcBef>
                <a:spcPts val="600"/>
              </a:spcBef>
              <a:spcAft>
                <a:spcPts val="600"/>
              </a:spcAft>
              <a:buFont typeface="Symbol" panose="05050102010706020507" pitchFamily="18" charset="2"/>
              <a:buChar char=""/>
              <a:tabLst>
                <a:tab pos="685800" algn="l"/>
              </a:tabLst>
            </a:pPr>
            <a:r>
              <a:rPr lang="en-US" sz="1800" dirty="0" err="1">
                <a:effectLst/>
                <a:latin typeface="Noto Sans" panose="020B0502040504020204" pitchFamily="34" charset="0"/>
                <a:ea typeface="Noto Sans" panose="020B0502040504020204" pitchFamily="34" charset="0"/>
                <a:cs typeface="Noto Sans" panose="020B0502040504020204" pitchFamily="34" charset="0"/>
              </a:rPr>
              <a:t>Thực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hiện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tô</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màu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bằng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hai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giải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thuật</a:t>
            </a:r>
            <a:r>
              <a:rPr lang="en-US" sz="1800" dirty="0">
                <a:effectLst/>
                <a:latin typeface="Noto Sans" panose="020B0502040504020204" pitchFamily="34" charset="0"/>
                <a:ea typeface="Noto Sans" panose="020B0502040504020204" pitchFamily="34" charset="0"/>
                <a:cs typeface="Noto Sans" panose="020B0502040504020204" pitchFamily="34" charset="0"/>
              </a:rPr>
              <a:t> Greedy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800" dirty="0">
                <a:effectLst/>
                <a:latin typeface="Noto Sans" panose="020B0502040504020204" pitchFamily="34" charset="0"/>
                <a:ea typeface="Noto Sans" panose="020B0502040504020204" pitchFamily="34" charset="0"/>
                <a:cs typeface="Noto Sans" panose="020B0502040504020204" pitchFamily="34" charset="0"/>
              </a:rPr>
              <a:t> Welsh–Powell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một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cách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ổn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định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chính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xác</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spcBef>
                <a:spcPts val="600"/>
              </a:spcBef>
              <a:spcAft>
                <a:spcPts val="600"/>
              </a:spcAft>
              <a:buFont typeface="Symbol" panose="05050102010706020507" pitchFamily="18" charset="2"/>
              <a:buChar char=""/>
              <a:tabLst>
                <a:tab pos="685800" algn="l"/>
              </a:tabLst>
            </a:pPr>
            <a:r>
              <a:rPr lang="en-US" sz="1800" dirty="0" err="1">
                <a:effectLst/>
                <a:latin typeface="Noto Sans" panose="020B0502040504020204" pitchFamily="34" charset="0"/>
                <a:ea typeface="Noto Sans" panose="020B0502040504020204" pitchFamily="34" charset="0"/>
                <a:cs typeface="Noto Sans" panose="020B0502040504020204" pitchFamily="34" charset="0"/>
              </a:rPr>
              <a:t>Kết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quả</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hiển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rõ</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ràng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số</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màu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sử</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dụng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hình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ảnh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trước</a:t>
            </a:r>
            <a:r>
              <a:rPr lang="en-US" sz="1800" dirty="0">
                <a:effectLst/>
                <a:latin typeface="Noto Sans" panose="020B0502040504020204" pitchFamily="34" charset="0"/>
                <a:ea typeface="Noto Sans" panose="020B0502040504020204" pitchFamily="34" charset="0"/>
                <a:cs typeface="Noto Sans" panose="020B0502040504020204" pitchFamily="34" charset="0"/>
              </a:rPr>
              <a:t> –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sau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khi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tô</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màu</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spcBef>
                <a:spcPts val="600"/>
              </a:spcBef>
              <a:spcAft>
                <a:spcPts val="600"/>
              </a:spcAft>
              <a:buFont typeface="Symbol" panose="05050102010706020507" pitchFamily="18" charset="2"/>
              <a:buChar char=""/>
              <a:tabLst>
                <a:tab pos="685800" algn="l"/>
              </a:tabLst>
            </a:pPr>
            <a:r>
              <a:rPr lang="en-US" sz="1800" dirty="0">
                <a:effectLst/>
                <a:latin typeface="Noto Sans" panose="020B0502040504020204" pitchFamily="34" charset="0"/>
                <a:ea typeface="Noto Sans" panose="020B0502040504020204" pitchFamily="34" charset="0"/>
                <a:cs typeface="Noto Sans" panose="020B0502040504020204" pitchFamily="34" charset="0"/>
              </a:rPr>
              <a:t>Qua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các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thử</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nghiệm</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chương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trình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giúp</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người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dùng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dễ</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dàng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quan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sát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sự</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khác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biệt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giữa</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hai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giải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thuật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trong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thực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tế</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a:lnSpc>
                <a:spcPct val="150000"/>
              </a:lnSpc>
            </a:pPr>
            <a:r>
              <a:rPr lang="vi-VN" b="1" dirty="0">
                <a:latin typeface="Noto Sans" panose="020B0502040504020204" pitchFamily="34" charset="0"/>
                <a:ea typeface="Noto Sans" panose="020B0502040504020204" pitchFamily="34" charset="0"/>
                <a:cs typeface="Noto Sans" panose="020B0502040504020204" pitchFamily="34" charset="0"/>
              </a:rPr>
              <a:t>HƯỚNG PHÁT TRIỂN</a:t>
            </a:r>
            <a:r>
              <a:rPr lang="en-US" b="1" dirty="0">
                <a:latin typeface="Noto Sans" panose="020B0502040504020204" pitchFamily="34" charset="0"/>
                <a:ea typeface="Noto Sans" panose="020B0502040504020204" pitchFamily="34" charset="0"/>
                <a:cs typeface="Noto Sans" panose="020B0502040504020204" pitchFamily="34" charset="0"/>
              </a:rPr>
              <a:t>:</a:t>
            </a:r>
          </a:p>
          <a:p>
            <a:pPr marL="342900" lvl="0" indent="-342900" algn="just">
              <a:spcBef>
                <a:spcPts val="600"/>
              </a:spcBef>
              <a:spcAft>
                <a:spcPts val="600"/>
              </a:spcAft>
              <a:buFont typeface="Symbol" panose="05050102010706020507" pitchFamily="18" charset="2"/>
              <a:buChar char=""/>
            </a:pPr>
            <a:r>
              <a:rPr lang="en-US" sz="1800" dirty="0" err="1">
                <a:effectLst/>
                <a:latin typeface="Noto Sans" panose="020B0502040504020204" pitchFamily="34" charset="0"/>
                <a:ea typeface="Noto Sans" panose="020B0502040504020204" pitchFamily="34" charset="0"/>
                <a:cs typeface="Noto Sans" panose="020B0502040504020204" pitchFamily="34" charset="0"/>
              </a:rPr>
              <a:t>Bổ</a:t>
            </a:r>
            <a:r>
              <a:rPr lang="en-US" sz="1800" dirty="0">
                <a:effectLst/>
                <a:latin typeface="Noto Sans" panose="020B0502040504020204" pitchFamily="34" charset="0"/>
                <a:ea typeface="Noto Sans" panose="020B0502040504020204" pitchFamily="34" charset="0"/>
                <a:cs typeface="Noto Sans" panose="020B0502040504020204" pitchFamily="34" charset="0"/>
              </a:rPr>
              <a:t> sung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thêm</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nhiều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giải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thuật</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tô</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màu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khác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để</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tăng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khả</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năng</a:t>
            </a:r>
            <a:r>
              <a:rPr lang="en-US" sz="1800" dirty="0">
                <a:effectLst/>
                <a:latin typeface="Noto Sans" panose="020B0502040504020204" pitchFamily="34" charset="0"/>
                <a:ea typeface="Noto Sans" panose="020B0502040504020204" pitchFamily="34" charset="0"/>
                <a:cs typeface="Noto Sans" panose="020B0502040504020204" pitchFamily="34" charset="0"/>
              </a:rPr>
              <a:t> so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sánh</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spcBef>
                <a:spcPts val="600"/>
              </a:spcBef>
              <a:spcAft>
                <a:spcPts val="600"/>
              </a:spcAft>
              <a:buFont typeface="Symbol" panose="05050102010706020507" pitchFamily="18" charset="2"/>
              <a:buChar char=""/>
            </a:pPr>
            <a:r>
              <a:rPr lang="en-US" sz="1800" dirty="0" err="1">
                <a:effectLst/>
                <a:latin typeface="Noto Sans" panose="020B0502040504020204" pitchFamily="34" charset="0"/>
                <a:ea typeface="Noto Sans" panose="020B0502040504020204" pitchFamily="34" charset="0"/>
                <a:cs typeface="Noto Sans" panose="020B0502040504020204" pitchFamily="34" charset="0"/>
              </a:rPr>
              <a:t>Hỗ</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trợ</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các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loại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đồ</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lớn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phức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tạp</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hơn</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spcBef>
                <a:spcPts val="600"/>
              </a:spcBef>
              <a:spcAft>
                <a:spcPts val="600"/>
              </a:spcAft>
              <a:buFont typeface="Symbol" panose="05050102010706020507" pitchFamily="18" charset="2"/>
              <a:buChar char=""/>
            </a:pPr>
            <a:r>
              <a:rPr lang="en-US" sz="1800" dirty="0" err="1">
                <a:effectLst/>
                <a:latin typeface="Noto Sans" panose="020B0502040504020204" pitchFamily="34" charset="0"/>
                <a:ea typeface="Noto Sans" panose="020B0502040504020204" pitchFamily="34" charset="0"/>
                <a:cs typeface="Noto Sans" panose="020B0502040504020204" pitchFamily="34" charset="0"/>
              </a:rPr>
              <a:t>Cải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tiến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giao</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diện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hiển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thị</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để</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trực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quan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sinh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động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hơn</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342900" lvl="0" indent="-342900" algn="just">
              <a:spcBef>
                <a:spcPts val="600"/>
              </a:spcBef>
              <a:spcAft>
                <a:spcPts val="600"/>
              </a:spcAft>
              <a:buFont typeface="Symbol" panose="05050102010706020507" pitchFamily="18" charset="2"/>
              <a:buChar char=""/>
            </a:pPr>
            <a:r>
              <a:rPr lang="en-US" sz="1800" dirty="0" err="1">
                <a:effectLst/>
                <a:latin typeface="Noto Sans" panose="020B0502040504020204" pitchFamily="34" charset="0"/>
                <a:ea typeface="Noto Sans" panose="020B0502040504020204" pitchFamily="34" charset="0"/>
                <a:cs typeface="Noto Sans" panose="020B0502040504020204" pitchFamily="34" charset="0"/>
              </a:rPr>
              <a:t>Ứng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dụng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chương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trình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vào</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các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bài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toán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thực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tế</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như</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lập</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lịch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phân</a:t>
            </a:r>
            <a:r>
              <a:rPr lang="en-US" sz="1800" dirty="0">
                <a:effectLst/>
                <a:latin typeface="Noto Sans" panose="020B0502040504020204" pitchFamily="34" charset="0"/>
                <a:ea typeface="Noto Sans" panose="020B0502040504020204" pitchFamily="34" charset="0"/>
                <a:cs typeface="Noto Sans" panose="020B0502040504020204" pitchFamily="34" charset="0"/>
              </a:rPr>
              <a:t> chia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tài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nguyên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phân</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tích</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mạng</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hoặc</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tối</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ưu</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hóa</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hệ</a:t>
            </a:r>
            <a:r>
              <a:rPr lang="en-US" sz="1800" dirty="0">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effectLst/>
                <a:latin typeface="Noto Sans" panose="020B0502040504020204" pitchFamily="34" charset="0"/>
                <a:ea typeface="Noto Sans" panose="020B0502040504020204" pitchFamily="34" charset="0"/>
                <a:cs typeface="Noto Sans" panose="020B0502040504020204" pitchFamily="34" charset="0"/>
              </a:rPr>
              <a:t>thống</a:t>
            </a:r>
            <a:r>
              <a:rPr lang="en-US" sz="1800" dirty="0">
                <a:effectLst/>
                <a:latin typeface="Noto Sans" panose="020B0502040504020204" pitchFamily="34" charset="0"/>
                <a:ea typeface="Noto Sans" panose="020B0502040504020204" pitchFamily="34" charset="0"/>
                <a:cs typeface="Noto Sans" panose="020B0502040504020204" pitchFamily="34" charset="0"/>
              </a:rPr>
              <a:t>.</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975118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E03ACF8-EABC-1D4F-87BF-8E50DBEA5456}"/>
              </a:ext>
            </a:extLst>
          </p:cNvPr>
          <p:cNvSpPr txBox="1"/>
          <p:nvPr/>
        </p:nvSpPr>
        <p:spPr>
          <a:xfrm>
            <a:off x="2271588" y="2578673"/>
            <a:ext cx="7860852" cy="1188720"/>
          </a:xfrm>
          <a:prstGeom prst="rect">
            <a:avLst/>
          </a:prstGeom>
          <a:noFill/>
        </p:spPr>
        <p:txBody>
          <a:bodyPr wrap="square" rtlCol="0">
            <a:normAutofit/>
          </a:bodyPr>
          <a:lstStyle/>
          <a:p>
            <a:pPr algn="dist"/>
            <a:r>
              <a:rPr kumimoji="1" lang="en-US" altLang="vi-VN" sz="3200" b="1" dirty="0">
                <a:solidFill>
                  <a:schemeClr val="tx1">
                    <a:lumMod val="75000"/>
                    <a:lumOff val="25000"/>
                  </a:schemeClr>
                </a:solidFill>
                <a:latin typeface="Noto Sans"/>
                <a:ea typeface="Noto Sans"/>
              </a:rPr>
              <a:t>CẢM ƠN GIẢNG VIÊN ĐÃ LẮNG NGHE</a:t>
            </a:r>
            <a:endParaRPr kumimoji="1" lang="vi-VN" altLang="vi-VN" sz="3200" b="1" dirty="0">
              <a:solidFill>
                <a:schemeClr val="tx1">
                  <a:lumMod val="75000"/>
                  <a:lumOff val="25000"/>
                </a:schemeClr>
              </a:solidFill>
              <a:latin typeface="Noto Sans"/>
              <a:ea typeface="Noto Sans"/>
            </a:endParaRPr>
          </a:p>
        </p:txBody>
      </p:sp>
      <p:sp>
        <p:nvSpPr>
          <p:cNvPr id="4" name="直角三角形 3">
            <a:extLst>
              <a:ext uri="{FF2B5EF4-FFF2-40B4-BE49-F238E27FC236}">
                <a16:creationId xmlns:a16="http://schemas.microsoft.com/office/drawing/2014/main" id="{E8830590-575E-754B-BBD1-CF430B4CE861}"/>
              </a:ext>
            </a:extLst>
          </p:cNvPr>
          <p:cNvSpPr/>
          <p:nvPr/>
        </p:nvSpPr>
        <p:spPr>
          <a:xfrm rot="5400000">
            <a:off x="-1" y="9939"/>
            <a:ext cx="3892064" cy="389206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直角三角形 14">
            <a:extLst>
              <a:ext uri="{FF2B5EF4-FFF2-40B4-BE49-F238E27FC236}">
                <a16:creationId xmlns:a16="http://schemas.microsoft.com/office/drawing/2014/main" id="{C5D500DF-C263-EE41-83EB-0A173207DC00}"/>
              </a:ext>
            </a:extLst>
          </p:cNvPr>
          <p:cNvSpPr/>
          <p:nvPr/>
        </p:nvSpPr>
        <p:spPr>
          <a:xfrm rot="16200000">
            <a:off x="7878416" y="2544416"/>
            <a:ext cx="4313583" cy="4313583"/>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 name="直线连接符 5">
            <a:extLst>
              <a:ext uri="{FF2B5EF4-FFF2-40B4-BE49-F238E27FC236}">
                <a16:creationId xmlns:a16="http://schemas.microsoft.com/office/drawing/2014/main" id="{5833D964-DFE2-EA42-A16F-D71FA404BCAF}"/>
              </a:ext>
            </a:extLst>
          </p:cNvPr>
          <p:cNvCxnSpPr/>
          <p:nvPr/>
        </p:nvCxnSpPr>
        <p:spPr>
          <a:xfrm flipH="1">
            <a:off x="0" y="822760"/>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BB5050BC-6ED4-E44B-B4A4-0095BD2CF516}"/>
              </a:ext>
            </a:extLst>
          </p:cNvPr>
          <p:cNvCxnSpPr/>
          <p:nvPr/>
        </p:nvCxnSpPr>
        <p:spPr>
          <a:xfrm flipH="1">
            <a:off x="7484926" y="3370197"/>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A3F3161E-459F-1A42-8F18-A936087DE6D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156873" y="4225239"/>
            <a:ext cx="3882744" cy="3620001"/>
          </a:xfrm>
          <a:prstGeom prst="rect">
            <a:avLst/>
          </a:prstGeom>
        </p:spPr>
      </p:pic>
      <p:pic>
        <p:nvPicPr>
          <p:cNvPr id="2" name="Picture 1" descr="Thông báo - tvu.edu.vn">
            <a:extLst>
              <a:ext uri="{FF2B5EF4-FFF2-40B4-BE49-F238E27FC236}">
                <a16:creationId xmlns:a16="http://schemas.microsoft.com/office/drawing/2014/main" id="{823FD0FB-2444-7388-316F-777EDFD65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
        <p:nvSpPr>
          <p:cNvPr id="5" name="圆角矩形 18">
            <a:extLst>
              <a:ext uri="{FF2B5EF4-FFF2-40B4-BE49-F238E27FC236}">
                <a16:creationId xmlns:a16="http://schemas.microsoft.com/office/drawing/2014/main" id="{A0D3542C-422D-4519-73BC-92123722921F}"/>
              </a:ext>
            </a:extLst>
          </p:cNvPr>
          <p:cNvSpPr/>
          <p:nvPr/>
        </p:nvSpPr>
        <p:spPr>
          <a:xfrm>
            <a:off x="3909388" y="225095"/>
            <a:ext cx="4585254" cy="572595"/>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19">
            <a:extLst>
              <a:ext uri="{FF2B5EF4-FFF2-40B4-BE49-F238E27FC236}">
                <a16:creationId xmlns:a16="http://schemas.microsoft.com/office/drawing/2014/main" id="{61F6C25C-51E1-E63E-796D-FE0A093F5A86}"/>
              </a:ext>
            </a:extLst>
          </p:cNvPr>
          <p:cNvSpPr/>
          <p:nvPr/>
        </p:nvSpPr>
        <p:spPr>
          <a:xfrm>
            <a:off x="8674432" y="225094"/>
            <a:ext cx="566407" cy="572595"/>
          </a:xfrm>
          <a:prstGeom prst="ellips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9">
            <a:extLst>
              <a:ext uri="{FF2B5EF4-FFF2-40B4-BE49-F238E27FC236}">
                <a16:creationId xmlns:a16="http://schemas.microsoft.com/office/drawing/2014/main" id="{771AA11D-05C5-9337-5E5F-D1F59EBC87A1}"/>
              </a:ext>
            </a:extLst>
          </p:cNvPr>
          <p:cNvSpPr txBox="1"/>
          <p:nvPr/>
        </p:nvSpPr>
        <p:spPr>
          <a:xfrm>
            <a:off x="4172594" y="212914"/>
            <a:ext cx="4058841" cy="584775"/>
          </a:xfrm>
          <a:prstGeom prst="rect">
            <a:avLst/>
          </a:prstGeom>
          <a:noFill/>
        </p:spPr>
        <p:txBody>
          <a:bodyPr wrap="square">
            <a:spAutoFit/>
          </a:bodyPr>
          <a:lstStyle/>
          <a:p>
            <a:pPr lvl="0" algn="ctr" eaLnBrk="0" fontAlgn="base" hangingPunct="0">
              <a:spcBef>
                <a:spcPct val="0"/>
              </a:spcBef>
              <a:spcAft>
                <a:spcPct val="0"/>
              </a:spcAft>
            </a:pPr>
            <a:r>
              <a:rPr lang="vi-VN" altLang="vi-VN" sz="1600" b="1" dirty="0">
                <a:solidFill>
                  <a:schemeClr val="bg1"/>
                </a:solidFill>
                <a:latin typeface="Montserrat ExtraBold" pitchFamily="2" charset="0"/>
              </a:rPr>
              <a:t>TRƯỜNG KỸ THUẬT VÀ CÔNG NGHỆ</a:t>
            </a:r>
            <a:endParaRPr lang="en-US" altLang="vi-VN" sz="1600" b="1" dirty="0">
              <a:solidFill>
                <a:schemeClr val="bg1"/>
              </a:solidFill>
              <a:latin typeface="Montserrat ExtraBold" pitchFamily="2" charset="0"/>
            </a:endParaRPr>
          </a:p>
          <a:p>
            <a:pPr lvl="0" algn="ctr" eaLnBrk="0" fontAlgn="base" hangingPunct="0">
              <a:spcBef>
                <a:spcPct val="0"/>
              </a:spcBef>
              <a:spcAft>
                <a:spcPct val="0"/>
              </a:spcAft>
            </a:pPr>
            <a:r>
              <a:rPr lang="en-US" altLang="vi-VN" sz="1600" b="1" dirty="0">
                <a:solidFill>
                  <a:schemeClr val="bg1"/>
                </a:solidFill>
                <a:latin typeface="Montserrat ExtraBold" pitchFamily="2" charset="0"/>
              </a:rPr>
              <a:t>KHOA CÔNG NGHỆ THÔNG TIN</a:t>
            </a:r>
            <a:endParaRPr lang="vi-VN" altLang="vi-VN" sz="1600" b="1" dirty="0">
              <a:solidFill>
                <a:schemeClr val="bg1"/>
              </a:solidFill>
              <a:latin typeface="Montserrat ExtraBold" pitchFamily="2" charset="0"/>
            </a:endParaRPr>
          </a:p>
        </p:txBody>
      </p:sp>
    </p:spTree>
    <p:extLst>
      <p:ext uri="{BB962C8B-B14F-4D97-AF65-F5344CB8AC3E}">
        <p14:creationId xmlns:p14="http://schemas.microsoft.com/office/powerpoint/2010/main" val="646371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3" presetClass="entr" presetSubtype="1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linds(horizontal)">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2.6 unknown"/>
  <p:tag name="AS_RELEASE_DATE" val="2021.11.30"/>
  <p:tag name="AS_TITLE" val="Aspose.Slides for Java"/>
  <p:tag name="AS_VERSION" val="21.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6AB8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7125</TotalTime>
  <Words>1098</Words>
  <Application>Microsoft Office PowerPoint</Application>
  <PresentationFormat>Widescreen</PresentationFormat>
  <Paragraphs>98</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等线</vt:lpstr>
      <vt:lpstr>Arial</vt:lpstr>
      <vt:lpstr>Courier New</vt:lpstr>
      <vt:lpstr>Montserrat ExtraBold</vt:lpstr>
      <vt:lpstr>Noto Sans</vt:lpstr>
      <vt:lpstr>Source Han Sans CN Bold</vt:lpstr>
      <vt:lpstr>Symbol</vt:lpstr>
      <vt:lpstr>思源宋体 Heavy</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医疗法律法规</dc:title>
  <dc:creator>hp</dc:creator>
  <cp:lastModifiedBy>Luu Bich Ngoc</cp:lastModifiedBy>
  <cp:revision>158</cp:revision>
  <dcterms:created xsi:type="dcterms:W3CDTF">2021-06-16T10:10:48Z</dcterms:created>
  <dcterms:modified xsi:type="dcterms:W3CDTF">2026-01-15T02:10:33Z</dcterms:modified>
</cp:coreProperties>
</file>